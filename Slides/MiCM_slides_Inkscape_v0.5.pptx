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545" r:id="rId6"/>
    <p:sldId id="300" r:id="rId7"/>
    <p:sldId id="549" r:id="rId8"/>
    <p:sldId id="551" r:id="rId9"/>
    <p:sldId id="552" r:id="rId10"/>
    <p:sldId id="553" r:id="rId11"/>
    <p:sldId id="556" r:id="rId12"/>
    <p:sldId id="554" r:id="rId13"/>
    <p:sldId id="555" r:id="rId14"/>
    <p:sldId id="557" r:id="rId15"/>
    <p:sldId id="546" r:id="rId16"/>
    <p:sldId id="559" r:id="rId17"/>
    <p:sldId id="563" r:id="rId18"/>
    <p:sldId id="567" r:id="rId19"/>
    <p:sldId id="570" r:id="rId20"/>
    <p:sldId id="558" r:id="rId21"/>
    <p:sldId id="564" r:id="rId22"/>
    <p:sldId id="562" r:id="rId23"/>
    <p:sldId id="566" r:id="rId24"/>
    <p:sldId id="547" r:id="rId25"/>
    <p:sldId id="561" r:id="rId26"/>
    <p:sldId id="568" r:id="rId27"/>
    <p:sldId id="569" r:id="rId28"/>
    <p:sldId id="572" r:id="rId29"/>
    <p:sldId id="571" r:id="rId30"/>
    <p:sldId id="548" r:id="rId31"/>
    <p:sldId id="560" r:id="rId32"/>
    <p:sldId id="573" r:id="rId33"/>
    <p:sldId id="574" r:id="rId34"/>
    <p:sldId id="543" r:id="rId35"/>
    <p:sldId id="550" r:id="rId36"/>
    <p:sldId id="317" r:id="rId37"/>
    <p:sldId id="525" r:id="rId38"/>
    <p:sldId id="536" r:id="rId39"/>
  </p:sldIdLst>
  <p:sldSz cx="9144000" cy="6858000" type="screen4x3"/>
  <p:notesSz cx="6858000" cy="9144000"/>
  <p:embeddedFontLst>
    <p:embeddedFont>
      <p:font typeface="Kigelia" panose="020B0503040502020203" pitchFamily="34" charset="0"/>
      <p:regular r:id="rId41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bold r:id="rId46"/>
      <p:italic r:id="rId47"/>
      <p:boldItalic r:id="rId48"/>
    </p:embeddedFont>
    <p:embeddedFont>
      <p:font typeface="Univers Light" panose="020B0403020202020204" pitchFamily="34" charset="0"/>
      <p:regular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gX0Ud/ncAW1nzs8h8v2YrO8ah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A89"/>
    <a:srgbClr val="F51D3D"/>
    <a:srgbClr val="692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4317" autoAdjust="0"/>
  </p:normalViewPr>
  <p:slideViewPr>
    <p:cSldViewPr snapToGrid="0" snapToObjects="1">
      <p:cViewPr varScale="1">
        <p:scale>
          <a:sx n="53" d="100"/>
          <a:sy n="53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dirty="0"/>
              <a:t>Do introduction</a:t>
            </a:r>
            <a:endParaRPr dirty="0"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 McGill initiative on Computational Medicine was formed in 2017 and aims to deliver inter-disciplinary research programs and empower the use of data in health research and health care delivery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Located at the Genome Center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They have a newsletter were you can subscribe 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more info on the web 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8053FA7-715D-04CB-089F-E3F70664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>
            <a:extLst>
              <a:ext uri="{FF2B5EF4-FFF2-40B4-BE49-F238E27FC236}">
                <a16:creationId xmlns:a16="http://schemas.microsoft.com/office/drawing/2014/main" id="{A9266901-2692-B801-B78A-B898BE956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>
            <a:extLst>
              <a:ext uri="{FF2B5EF4-FFF2-40B4-BE49-F238E27FC236}">
                <a16:creationId xmlns:a16="http://schemas.microsoft.com/office/drawing/2014/main" id="{1348B8F2-4E4C-525B-5663-DD47FAE51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how to use Inkscape to transform a collection of independent plots into a polished, publication-ready figure</a:t>
            </a:r>
            <a:r>
              <a:rPr lang="en-CA" dirty="0">
                <a:effectLst/>
              </a:rPr>
              <a:t> </a:t>
            </a:r>
            <a:endParaRPr dirty="0"/>
          </a:p>
        </p:txBody>
      </p:sp>
      <p:sp>
        <p:nvSpPr>
          <p:cNvPr id="126" name="Google Shape;126;g192f3904c50_0_192:notes">
            <a:extLst>
              <a:ext uri="{FF2B5EF4-FFF2-40B4-BE49-F238E27FC236}">
                <a16:creationId xmlns:a16="http://schemas.microsoft.com/office/drawing/2014/main" id="{35EA3F40-FF81-64A4-6FD0-F536D8178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388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What you create with it is entirely yours, and you are free to distribute, share it, sell it, however you’d like — or keep it to yourself!</a:t>
            </a:r>
          </a:p>
          <a:p>
            <a:endParaRPr lang="en-CA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dirty="0"/>
              <a:t>All files either saved or exported from Inkscape in any format (SVG, PNG, PDF, etc.) are owned by the creators of the work (that's you!) and/or the original authors in case you use derivative works. </a:t>
            </a:r>
          </a:p>
          <a:p>
            <a:endParaRPr lang="en-US" dirty="0"/>
          </a:p>
          <a:p>
            <a:r>
              <a:rPr lang="en-US" dirty="0"/>
              <a:t>You are responsible for publishing your work under a license of your choosing and for tracking your use of derivative works in the software. You can add and modify your license information for each file in the 'File/Document properties' dialog within Inkscape.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511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4C80-B3F2-150C-FF17-921754A5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5E72C-519D-399F-0342-3D7E108A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9C38-7C44-33E2-9FF5-7445D1AFC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Artwork and Comics, Clip art, Icons and Logos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467BF-A2E5-9E55-2E54-8B439B9B7C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582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84C5-8FAB-1906-CEE3-0D6389B9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CA0C9-F8A9-6E07-4504-498180284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28828-C6DF-DB5E-2492-82B9E476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6F119-55B3-BBE3-3606-940AC6422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8507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CA24-0EDD-8CB3-D63F-842F6272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2318C-2C7F-7D17-66A3-6B7462B94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95C45-53B0-C577-7CC2-94DAB7F6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B37CA-ED22-2BB8-8EA4-5231CF097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395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9DA5-7ABA-5470-2728-EBA79B2D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5B50-24E1-D982-087D-8A15AEE90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626CD-AE32-A617-47E3-93493F4C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2F3A4-DEF1-80FA-E36E-15D08738C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049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9BC8-2ABB-EB8A-9AE7-B6D929D4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C86A2-67FE-6CB1-D7DC-DC727E3BF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F3701-BC59-661B-D3A0-215CEC4EE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B5DCA-9615-3981-0FDA-26BCE4DA7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9623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2246-C926-5E35-85A1-9B899FFE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512CE-CF7A-90C5-1669-291DB1906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65540-607E-D80F-4542-F9D5753D2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50A4-BFE1-228A-8462-013A9E1B1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994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EA24-22F5-2E5F-F8C2-29ACFFF6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FF5D6-2AF4-3055-EDCD-BE92BA360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B29EC-C122-AE44-4920-976EC5CB3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68E94-9AA1-83A4-CE85-589C1E51AA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8985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59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D667-10E1-7F74-2603-33C8082F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30B8-CB55-7A8D-A79A-F579E8787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C3E8C-415C-389B-7182-60659E4C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8AF51-D4B4-DF85-0EC2-0BDD630882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4165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AE30-80D4-6BB9-1B3E-2888EA05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29A4E-B3B0-5B0E-A47C-7FFE1C3E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1C71-A6B9-9C09-E7A6-BA20D6165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B2DE-1994-DC7C-BA29-DC4E0CA777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4632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368D-AB34-F394-F6FF-A8D12049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36E26-5FC7-EE4F-61D8-19BF66E01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818A-A80C-9306-D3D6-7DCBB8198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649FA-DE6D-1FB7-442F-0D6B89A089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151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6C6B-6269-EEAB-0F7D-F5C34CCF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FF0CE-1DEF-D5C4-0484-588810E6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508C1-1ABD-240A-59B9-F0695F28C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149CF-CC0A-64EF-CB88-1069FE5C8F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040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E3AB-45D8-157A-452B-4F7DD7AD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73ABA-03CB-BD91-912E-065451D9C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D0A0C-6CC3-4AF6-D626-E0781699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311F8-9795-ACFB-5BC4-7AD4F1601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6989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5971-C3E4-6978-E827-83AAC350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22F7A-037B-8C52-35DE-3540A3C9B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CDC53-DF39-56DC-C159-3D90BC02A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E711B-35C0-D375-982A-8DF7C71C0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1912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5D055-99C8-8FB6-8AB8-4BF7DA56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B73BB-65D9-0187-2DBB-CA59BBA8F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E4CF5-5974-3F99-33BA-F4CCCE269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EE59B-58E1-9868-F482-151E21FD5B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434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A068F-1A26-A385-C968-915FA0D7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0F6B2-2F05-158F-90B6-1AFA1EE9F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ABFF0-ADF4-1877-E908-DB11CCBFC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94554-4399-AD2D-A9D9-82750A955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9109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137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28AF-2128-2C3B-A0A2-98E9604F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E764B-5828-BD8C-4FE9-330685181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F4CF5-660A-CE38-C09D-9856483DC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14251-D3CB-217C-DAB9-CD1B73F2B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588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0E28-9F52-8158-7717-D41BE49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96C7F-2E52-1ABF-F698-119E59C21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1CBAD-8D92-3BE6-3078-1E2623DD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55A4-703B-AE5E-4992-1B0B798BF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189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4E87-93CA-9D73-AD8D-90E20CA6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B4112-0246-F468-7FFD-585D52C5E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3BBDB-2F56-CF8E-9E4D-F537FE78E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1079D-18EF-05D0-140B-9726E39DB6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7410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95F1-3B33-F92B-7BCD-D474E8FC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AE6A2-38A8-8EEF-7DB4-1F9E5798B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7A8A3-5056-8DF1-6B66-2C30E94FB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37C74-113F-AFC0-E3D1-AEB340D461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9155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9AF1-D0CE-6DCE-880A-D7EBBDD4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5D16F-9FCA-826A-AEA9-1325F8EC5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947F8-48F8-5EBB-41D6-3DC668583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CBDA9-4972-2C42-1896-143F6CF297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67195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03391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B95A-EE56-AC17-53CD-77C9FF90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CE359-FFB4-3B7B-D477-F65469B7D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5183F-89A8-3327-5094-E5D61B9CD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325F0-229F-DA01-900D-37C4D9D83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77481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C3B8-C198-3153-304B-D080B6A3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3B576-8380-6C6A-B47F-F7057F262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22947-6CDA-A22C-BBEF-5160C6CF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B9570-3D47-8BEA-493F-78FD52F06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96489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F908-BE4A-7B9A-3482-F598B2EE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F0385-C7DB-6366-3C7F-844BC0FCF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BBFF8-8119-AA9A-96ED-31E5198D0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48AC-C199-3148-7412-69262449F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79710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F4D9793-9AB2-598E-6B05-73CCCB1C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EF8C02C-FFE7-4AF4-CB09-F1F053684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7036988-9968-9A74-C1B8-829A6753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8EB83E5-DF79-DD5B-18E4-FEA2D5157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272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98FD83A7-7E14-F393-89DA-5141F6E0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>
            <a:extLst>
              <a:ext uri="{FF2B5EF4-FFF2-40B4-BE49-F238E27FC236}">
                <a16:creationId xmlns:a16="http://schemas.microsoft.com/office/drawing/2014/main" id="{67F64AA4-9671-A1F9-B136-C9B3DD40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>
            <a:extLst>
              <a:ext uri="{FF2B5EF4-FFF2-40B4-BE49-F238E27FC236}">
                <a16:creationId xmlns:a16="http://schemas.microsoft.com/office/drawing/2014/main" id="{496224B9-50B7-690D-B013-6481D76F8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>
            <a:extLst>
              <a:ext uri="{FF2B5EF4-FFF2-40B4-BE49-F238E27FC236}">
                <a16:creationId xmlns:a16="http://schemas.microsoft.com/office/drawing/2014/main" id="{705F0904-CDA5-C388-CB85-7C11D25D52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4118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e de titre">
  <p:cSld name="2_Diapositive de titr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 txBox="1"/>
          <p:nvPr/>
        </p:nvSpPr>
        <p:spPr>
          <a:xfrm>
            <a:off x="594015" y="1617135"/>
            <a:ext cx="7804150" cy="486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r>
              <a:rPr lang="en-CA" sz="2002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en-CA"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aims to deliver inter-disciplinary research programs and empower the use of data in health research and health care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https://www.mcgill.ca/micm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47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642" y="2463795"/>
            <a:ext cx="4431523" cy="352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86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42372" y="1454228"/>
            <a:ext cx="8658743" cy="49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2"/>
              <a:buFont typeface="Calibri"/>
              <a:buNone/>
              <a:defRPr sz="32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>
            <a:spLocks noGrp="1"/>
          </p:cNvSpPr>
          <p:nvPr>
            <p:ph type="pic" idx="2"/>
          </p:nvPr>
        </p:nvSpPr>
        <p:spPr>
          <a:xfrm>
            <a:off x="3887391" y="987431"/>
            <a:ext cx="4629150" cy="487362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598"/>
              <a:buNone/>
              <a:defRPr sz="1598"/>
            </a:lvl1pPr>
            <a:lvl2pPr marL="914400" lvl="1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2pPr>
            <a:lvl3pPr marL="1371600" lvl="2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3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273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727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Char char="•"/>
              <a:defRPr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6"/>
          <p:cNvGrpSpPr/>
          <p:nvPr/>
        </p:nvGrpSpPr>
        <p:grpSpPr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3" name="Google Shape;13;p6"/>
            <p:cNvSpPr/>
            <p:nvPr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pic>
        <p:nvPicPr>
          <p:cNvPr id="18" name="Google Shape;18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84992" y="6411199"/>
            <a:ext cx="1759009" cy="42450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nkscape-manuals.readthedocs.io/en/latest/index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bioart.niaid.nih.gov/" TargetMode="External"/><Relationship Id="rId4" Type="http://schemas.openxmlformats.org/officeDocument/2006/relationships/hyperlink" Target="https://inkscape.org/learn/books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www.mcgill.ca/micm/" TargetMode="External"/><Relationship Id="rId4" Type="http://schemas.openxmlformats.org/officeDocument/2006/relationships/hyperlink" Target="mailto:info-micm@mcgill.ca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ioinformatics-core-shared-training.github.io/effective-figure-design/DesigningEffectiveScientificFigures_Practical_INKSCAPE_Zabala_v00.pdf" TargetMode="External"/><Relationship Id="rId2" Type="http://schemas.openxmlformats.org/officeDocument/2006/relationships/hyperlink" Target="https://inkscape-manuals.readthedocs.io/en/latest/index.html" TargetMode="Externa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510750" y="1767037"/>
            <a:ext cx="8023122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4800" i="0" strike="noStrike" cap="none" dirty="0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Building figures with Inkscape</a:t>
            </a:r>
            <a:endParaRPr sz="4800" i="0" strike="noStrike" cap="none" dirty="0">
              <a:solidFill>
                <a:srgbClr val="F51D3D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Mul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688072" y="3255297"/>
            <a:ext cx="49932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October 29th</a:t>
            </a: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, 2026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Ariel Madrigal</a:t>
            </a:r>
          </a:p>
          <a:p>
            <a:pPr lvl="0" algn="r">
              <a:buSzPts val="1900"/>
            </a:pPr>
            <a:r>
              <a:rPr lang="en-CA" sz="2000" dirty="0" err="1">
                <a:latin typeface="Univers Light" panose="020B0403020202020204" pitchFamily="34" charset="0"/>
              </a:rPr>
              <a:t>Senthilkumar</a:t>
            </a:r>
            <a:r>
              <a:rPr lang="en-CA" sz="2000" dirty="0">
                <a:latin typeface="Univers Light" panose="020B0403020202020204" pitchFamily="34" charset="0"/>
              </a:rPr>
              <a:t> </a:t>
            </a:r>
            <a:r>
              <a:rPr lang="en-CA" sz="2000" dirty="0" err="1">
                <a:latin typeface="Univers Light" panose="020B0403020202020204" pitchFamily="34" charset="0"/>
              </a:rPr>
              <a:t>Kailasam</a:t>
            </a:r>
            <a:endParaRPr sz="20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CC444B2C-F0D5-0B49-2C90-446E9003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67" y="5465400"/>
            <a:ext cx="4056488" cy="896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393E1-43D3-AEAC-3229-A1B82FE8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19" y="4006516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FFF87-CC09-5ED3-3790-99618B527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36" y="4531138"/>
            <a:ext cx="5148291" cy="772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304275" y="1412586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Outline: 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111" name="Google Shape;111;g19353f05b57_0_387"/>
          <p:cNvSpPr/>
          <p:nvPr/>
        </p:nvSpPr>
        <p:spPr>
          <a:xfrm>
            <a:off x="657250" y="2273683"/>
            <a:ext cx="528600" cy="5001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9353f05b57_0_387"/>
          <p:cNvSpPr txBox="1"/>
          <p:nvPr/>
        </p:nvSpPr>
        <p:spPr>
          <a:xfrm>
            <a:off x="1285874" y="2168184"/>
            <a:ext cx="735279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Introduction to scientific figure design and Inkscape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21" name="Google Shape;121;g19353f05b57_0_387"/>
          <p:cNvSpPr/>
          <p:nvPr/>
        </p:nvSpPr>
        <p:spPr>
          <a:xfrm>
            <a:off x="657250" y="3157904"/>
            <a:ext cx="528600" cy="500100"/>
          </a:xfrm>
          <a:prstGeom prst="ellipse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/>
              <a:t>2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9353f05b57_0_387"/>
          <p:cNvSpPr txBox="1"/>
          <p:nvPr/>
        </p:nvSpPr>
        <p:spPr>
          <a:xfrm>
            <a:off x="1285875" y="3184754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Importing and editing plots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5" name="Google Shape;121;g19353f05b57_0_387">
            <a:extLst>
              <a:ext uri="{FF2B5EF4-FFF2-40B4-BE49-F238E27FC236}">
                <a16:creationId xmlns:a16="http://schemas.microsoft.com/office/drawing/2014/main" id="{1328640D-D9FF-7A42-A8CB-3C519002A34E}"/>
              </a:ext>
            </a:extLst>
          </p:cNvPr>
          <p:cNvSpPr/>
          <p:nvPr/>
        </p:nvSpPr>
        <p:spPr>
          <a:xfrm>
            <a:off x="663346" y="4104864"/>
            <a:ext cx="528600" cy="500100"/>
          </a:xfrm>
          <a:prstGeom prst="ellipse">
            <a:avLst/>
          </a:prstGeom>
          <a:solidFill>
            <a:srgbClr val="A04A8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>
                <a:solidFill>
                  <a:schemeClr val="tx1"/>
                </a:solidFill>
              </a:rPr>
              <a:t>3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16" name="Google Shape;122;g19353f05b57_0_387">
            <a:extLst>
              <a:ext uri="{FF2B5EF4-FFF2-40B4-BE49-F238E27FC236}">
                <a16:creationId xmlns:a16="http://schemas.microsoft.com/office/drawing/2014/main" id="{7DE81327-07F1-EB4D-B068-23E42305AEF5}"/>
              </a:ext>
            </a:extLst>
          </p:cNvPr>
          <p:cNvSpPr txBox="1"/>
          <p:nvPr/>
        </p:nvSpPr>
        <p:spPr>
          <a:xfrm>
            <a:off x="1285873" y="4081551"/>
            <a:ext cx="576609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US" sz="2400" dirty="0">
                <a:latin typeface="Univers Light" panose="020B0403020202020204" pitchFamily="34" charset="0"/>
              </a:rPr>
              <a:t>Building a multi-panel figure 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2" name="Google Shape;121;g19353f05b57_0_387">
            <a:extLst>
              <a:ext uri="{FF2B5EF4-FFF2-40B4-BE49-F238E27FC236}">
                <a16:creationId xmlns:a16="http://schemas.microsoft.com/office/drawing/2014/main" id="{5FB427BD-E812-0F3D-AED4-3C2EFA1175AB}"/>
              </a:ext>
            </a:extLst>
          </p:cNvPr>
          <p:cNvSpPr/>
          <p:nvPr/>
        </p:nvSpPr>
        <p:spPr>
          <a:xfrm>
            <a:off x="663346" y="5061658"/>
            <a:ext cx="528600" cy="500100"/>
          </a:xfrm>
          <a:prstGeom prst="ellipse">
            <a:avLst/>
          </a:prstGeom>
          <a:solidFill>
            <a:srgbClr val="6921C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sym typeface="Arial"/>
              </a:rPr>
              <a:t>4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122;g19353f05b57_0_387">
            <a:extLst>
              <a:ext uri="{FF2B5EF4-FFF2-40B4-BE49-F238E27FC236}">
                <a16:creationId xmlns:a16="http://schemas.microsoft.com/office/drawing/2014/main" id="{CB74704F-39F5-E719-5765-39C3A2E43BFF}"/>
              </a:ext>
            </a:extLst>
          </p:cNvPr>
          <p:cNvSpPr txBox="1"/>
          <p:nvPr/>
        </p:nvSpPr>
        <p:spPr>
          <a:xfrm>
            <a:off x="1291971" y="5088508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CA" sz="2400" dirty="0">
                <a:latin typeface="Univers Light" panose="020B0403020202020204" pitchFamily="34" charset="0"/>
              </a:rPr>
              <a:t>Exporting and closing remarks 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/>
          <p:cNvSpPr txBox="1"/>
          <p:nvPr/>
        </p:nvSpPr>
        <p:spPr>
          <a:xfrm>
            <a:off x="539900" y="189692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This is an interactive workshop :)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129" name="Google Shape;129;g192f3904c50_0_192"/>
          <p:cNvSpPr txBox="1"/>
          <p:nvPr/>
        </p:nvSpPr>
        <p:spPr>
          <a:xfrm>
            <a:off x="539900" y="3146378"/>
            <a:ext cx="7967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Feel free to interrupt or raise your hand to ask questions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70715B1-BEB1-1F92-B38E-E6FDD04C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>
            <a:extLst>
              <a:ext uri="{FF2B5EF4-FFF2-40B4-BE49-F238E27FC236}">
                <a16:creationId xmlns:a16="http://schemas.microsoft.com/office/drawing/2014/main" id="{183CCFD1-F518-4D1A-461C-3533B4979E60}"/>
              </a:ext>
            </a:extLst>
          </p:cNvPr>
          <p:cNvSpPr txBox="1"/>
          <p:nvPr/>
        </p:nvSpPr>
        <p:spPr>
          <a:xfrm>
            <a:off x="369600" y="1831508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The objective for today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773A9-A3D5-8D48-B0BE-06F0B5ABD29C}"/>
              </a:ext>
            </a:extLst>
          </p:cNvPr>
          <p:cNvSpPr/>
          <p:nvPr/>
        </p:nvSpPr>
        <p:spPr>
          <a:xfrm>
            <a:off x="2285999" y="3287705"/>
            <a:ext cx="4932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To use Inkscape to transform a collection of independent plots into a polished, publication-ready figure</a:t>
            </a:r>
            <a:r>
              <a:rPr lang="en-CA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76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84423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Introduction to scientific figure design and Inkscape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3E47C-6179-0F49-8380-1136DEB6AA8F}"/>
              </a:ext>
            </a:extLst>
          </p:cNvPr>
          <p:cNvSpPr txBox="1"/>
          <p:nvPr/>
        </p:nvSpPr>
        <p:spPr>
          <a:xfrm>
            <a:off x="498208" y="525207"/>
            <a:ext cx="6561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Why use Inkscape for scientific figures?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AC3AF-CD42-C8DC-A487-CD4078F60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1" y="1167346"/>
            <a:ext cx="3472866" cy="5472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0F07D-5475-182B-79C1-3596D60CCD71}"/>
              </a:ext>
            </a:extLst>
          </p:cNvPr>
          <p:cNvSpPr txBox="1"/>
          <p:nvPr/>
        </p:nvSpPr>
        <p:spPr>
          <a:xfrm>
            <a:off x="4992450" y="1272258"/>
            <a:ext cx="33886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It’s free!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Open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Cross-platform (Mac, Windows, GNU/Linux)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Supports vector graphics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Enables creation of high-resolution figures</a:t>
            </a:r>
          </a:p>
        </p:txBody>
      </p:sp>
    </p:spTree>
    <p:extLst>
      <p:ext uri="{BB962C8B-B14F-4D97-AF65-F5344CB8AC3E}">
        <p14:creationId xmlns:p14="http://schemas.microsoft.com/office/powerpoint/2010/main" val="23988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544D-37BB-7EC8-3B93-70F6755F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BD911F-65A3-7654-7608-B4FF9CD0E721}"/>
              </a:ext>
            </a:extLst>
          </p:cNvPr>
          <p:cNvSpPr txBox="1"/>
          <p:nvPr/>
        </p:nvSpPr>
        <p:spPr>
          <a:xfrm>
            <a:off x="498208" y="525207"/>
            <a:ext cx="5379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What can you do with Inkscape?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EBEB9-4C1C-3A45-E622-0E032775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19" y="2355957"/>
            <a:ext cx="4079581" cy="3482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05316-BCA1-EFE4-98AA-1F8D1004EDA2}"/>
              </a:ext>
            </a:extLst>
          </p:cNvPr>
          <p:cNvSpPr txBox="1"/>
          <p:nvPr/>
        </p:nvSpPr>
        <p:spPr>
          <a:xfrm>
            <a:off x="498208" y="1398765"/>
            <a:ext cx="3821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Scientific figures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1799F-BDE5-E458-1E39-6CEB48658FA2}"/>
              </a:ext>
            </a:extLst>
          </p:cNvPr>
          <p:cNvSpPr txBox="1"/>
          <p:nvPr/>
        </p:nvSpPr>
        <p:spPr>
          <a:xfrm>
            <a:off x="4975058" y="1398765"/>
            <a:ext cx="3821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But also, much more! </a:t>
            </a:r>
            <a:endParaRPr lang="en-CA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F52C9-7F45-34ED-9442-295121EC1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665" y="1860430"/>
            <a:ext cx="2305699" cy="2314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FD785F-0262-F5B7-8998-F3E9B5AF1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40" y="2264564"/>
            <a:ext cx="1665823" cy="15059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51558A-FDD7-109B-CC86-941EBCDC9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368" y="4412442"/>
            <a:ext cx="1378064" cy="17436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0E9806-2BE6-B227-ED0B-065C30F90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517" y="4412442"/>
            <a:ext cx="1755064" cy="151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007F-A839-DE91-16B0-EA124D00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48F32-85D3-267A-8278-C556EB555FAC}"/>
              </a:ext>
            </a:extLst>
          </p:cNvPr>
          <p:cNvSpPr txBox="1"/>
          <p:nvPr/>
        </p:nvSpPr>
        <p:spPr>
          <a:xfrm>
            <a:off x="498208" y="525207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Inkscape can be hard…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D161A-837B-BB22-591A-E34925AE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985" y="1939844"/>
            <a:ext cx="5002977" cy="2723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00ABE1-F108-2616-E31F-BAA1927AD696}"/>
              </a:ext>
            </a:extLst>
          </p:cNvPr>
          <p:cNvSpPr txBox="1"/>
          <p:nvPr/>
        </p:nvSpPr>
        <p:spPr>
          <a:xfrm>
            <a:off x="2118435" y="4930715"/>
            <a:ext cx="4602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But it’s worth it</a:t>
            </a:r>
          </a:p>
        </p:txBody>
      </p:sp>
    </p:spTree>
    <p:extLst>
      <p:ext uri="{BB962C8B-B14F-4D97-AF65-F5344CB8AC3E}">
        <p14:creationId xmlns:p14="http://schemas.microsoft.com/office/powerpoint/2010/main" val="854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3E29-6AA7-189A-942A-238CFE8D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2737E0-870E-FC9B-127E-B03393D74FD3}"/>
              </a:ext>
            </a:extLst>
          </p:cNvPr>
          <p:cNvSpPr txBox="1"/>
          <p:nvPr/>
        </p:nvSpPr>
        <p:spPr>
          <a:xfrm>
            <a:off x="498208" y="525207"/>
            <a:ext cx="4142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Vector vs raster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26E2A-011C-7D68-2317-D3F3DF298DFA}"/>
              </a:ext>
            </a:extLst>
          </p:cNvPr>
          <p:cNvSpPr txBox="1"/>
          <p:nvPr/>
        </p:nvSpPr>
        <p:spPr>
          <a:xfrm>
            <a:off x="429434" y="1852589"/>
            <a:ext cx="39346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Made of </a:t>
            </a:r>
            <a:r>
              <a:rPr lang="en-CA" sz="1800" b="1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pixels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 arranged in a grid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Resolution-dependent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Become blurry or pixelated when enlarged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Best for photographs and complex images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Larger image dimensions are needed for high-quality printing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D4359-AAB0-A9D8-AD0D-947E609E45F0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35E11-6E12-6920-F640-7DFF73D39717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39466-3A48-F923-FAE1-28088D80C7D4}"/>
              </a:ext>
            </a:extLst>
          </p:cNvPr>
          <p:cNvSpPr txBox="1"/>
          <p:nvPr/>
        </p:nvSpPr>
        <p:spPr>
          <a:xfrm>
            <a:off x="4779962" y="1852589"/>
            <a:ext cx="41595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Made of </a:t>
            </a:r>
            <a:r>
              <a:rPr lang="en-CA" sz="1800" b="1" dirty="0">
                <a:latin typeface="Univers Light" panose="020B0403020202020204" pitchFamily="34" charset="0"/>
              </a:rPr>
              <a:t>mathematical shapes and paths</a:t>
            </a:r>
            <a:endParaRPr lang="en-CA" sz="18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Resolution-independent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Can be scaled to any size without losing quality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Individual elements remain editable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Ideal for plots, diagrams, illustrations, and figure assembly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44C731-86ED-140B-FA19-CB4596833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759" y="4366072"/>
            <a:ext cx="4142482" cy="230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0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CD2B-BF8E-F1DB-BBA9-D2530177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0013D-77B7-C6D6-3077-6E055FD9BCF6}"/>
              </a:ext>
            </a:extLst>
          </p:cNvPr>
          <p:cNvSpPr txBox="1"/>
          <p:nvPr/>
        </p:nvSpPr>
        <p:spPr>
          <a:xfrm>
            <a:off x="498208" y="525207"/>
            <a:ext cx="6221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When to use vector or raster images?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7F637-FA5D-4712-80D5-490706C70868}"/>
              </a:ext>
            </a:extLst>
          </p:cNvPr>
          <p:cNvSpPr txBox="1"/>
          <p:nvPr/>
        </p:nvSpPr>
        <p:spPr>
          <a:xfrm>
            <a:off x="429434" y="1875602"/>
            <a:ext cx="33158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Complex technical images:</a:t>
            </a:r>
          </a:p>
          <a:p>
            <a:pPr marL="342900" lvl="2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Microscopy images</a:t>
            </a:r>
          </a:p>
          <a:p>
            <a:pPr marL="342900" lvl="3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Histology slides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Plots with hundreds of thousands of points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953DD-37EF-B4DD-5B1B-5E42BA932C25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D03E1-74B5-5E8B-186D-97EDAF749CF8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DB78D-DA85-FCAD-1445-601D739997E0}"/>
              </a:ext>
            </a:extLst>
          </p:cNvPr>
          <p:cNvSpPr txBox="1"/>
          <p:nvPr/>
        </p:nvSpPr>
        <p:spPr>
          <a:xfrm>
            <a:off x="4736452" y="1875602"/>
            <a:ext cx="33158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When possible, use vector-based graphics: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Most of the computer-generated plots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Diagrams and schematics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Text, labels, arrows and annotations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74A43-1040-E5F9-2AEC-043E0E7F9972}"/>
              </a:ext>
            </a:extLst>
          </p:cNvPr>
          <p:cNvSpPr txBox="1"/>
          <p:nvPr/>
        </p:nvSpPr>
        <p:spPr>
          <a:xfrm>
            <a:off x="4821814" y="4067405"/>
            <a:ext cx="33158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1800" b="1" dirty="0">
                <a:latin typeface="Univers Light" panose="020B0403020202020204" pitchFamily="34" charset="0"/>
              </a:rPr>
              <a:t>Either: </a:t>
            </a:r>
          </a:p>
          <a:p>
            <a:pPr marL="285750" lvl="0" indent="-285750" fontAlgn="t">
              <a:buFontTx/>
              <a:buChar char="-"/>
            </a:pPr>
            <a:r>
              <a:rPr lang="en-US" sz="1800" dirty="0">
                <a:latin typeface="Univers Light" panose="020B0403020202020204" pitchFamily="34" charset="0"/>
              </a:rPr>
              <a:t>Use rasterization options while exporting your figures (e.g. </a:t>
            </a:r>
            <a:r>
              <a:rPr lang="en-US" sz="1800" dirty="0" err="1">
                <a:latin typeface="Univers Light" panose="020B0403020202020204" pitchFamily="34" charset="0"/>
              </a:rPr>
              <a:t>ggrastr</a:t>
            </a:r>
            <a:r>
              <a:rPr lang="en-US" sz="1800" dirty="0">
                <a:latin typeface="Univers Light" panose="020B0403020202020204" pitchFamily="34" charset="0"/>
              </a:rPr>
              <a:t> in R)</a:t>
            </a:r>
          </a:p>
          <a:p>
            <a:pPr marL="285750" lvl="0" indent="-285750" fontAlgn="t">
              <a:buFontTx/>
              <a:buChar char="-"/>
            </a:pPr>
            <a:r>
              <a:rPr lang="en-US" sz="1800" dirty="0">
                <a:latin typeface="Univers Light" panose="020B0403020202020204" pitchFamily="34" charset="0"/>
              </a:rPr>
              <a:t>Export rasterized versions of the plot without labels</a:t>
            </a:r>
          </a:p>
          <a:p>
            <a:pPr lvl="0" fontAlgn="t"/>
            <a:endParaRPr lang="en-CA" sz="1800" dirty="0">
              <a:latin typeface="Univers Light" panose="020B0403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73EA25-FC81-BE55-E47F-12DE3E591E5B}"/>
              </a:ext>
            </a:extLst>
          </p:cNvPr>
          <p:cNvGrpSpPr/>
          <p:nvPr/>
        </p:nvGrpSpPr>
        <p:grpSpPr>
          <a:xfrm>
            <a:off x="962526" y="3429000"/>
            <a:ext cx="3359662" cy="3275273"/>
            <a:chOff x="962526" y="3429000"/>
            <a:chExt cx="3359662" cy="32752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CBEE6E-9BAD-DFE5-A4F9-30F9C564A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764" y="3429000"/>
              <a:ext cx="3171424" cy="319920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430BBA-9A97-C6C3-A310-E100079B4EE6}"/>
                </a:ext>
              </a:extLst>
            </p:cNvPr>
            <p:cNvSpPr/>
            <p:nvPr/>
          </p:nvSpPr>
          <p:spPr>
            <a:xfrm>
              <a:off x="962526" y="6472989"/>
              <a:ext cx="300790" cy="2312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35205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ECA6-7CAD-39B9-B292-0C64FDC5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E4284-90A4-0A10-ED7D-D6425C9B668D}"/>
              </a:ext>
            </a:extLst>
          </p:cNvPr>
          <p:cNvSpPr txBox="1"/>
          <p:nvPr/>
        </p:nvSpPr>
        <p:spPr>
          <a:xfrm>
            <a:off x="498208" y="525207"/>
            <a:ext cx="3583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Common file formats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E9A6C-DB10-2F57-47D7-5E79807AB102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12978-6252-F535-6056-904F91BFF16D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55A16-3CCF-9E19-DC1F-7C1F5EF8A526}"/>
              </a:ext>
            </a:extLst>
          </p:cNvPr>
          <p:cNvSpPr txBox="1"/>
          <p:nvPr/>
        </p:nvSpPr>
        <p:spPr>
          <a:xfrm>
            <a:off x="4703863" y="2104072"/>
            <a:ext cx="33158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rgbClr val="C00000"/>
                </a:solidFill>
                <a:latin typeface="Univers Light" panose="020B0403020202020204" pitchFamily="34" charset="0"/>
              </a:rPr>
              <a:t>SVG (.</a:t>
            </a:r>
            <a:r>
              <a:rPr lang="en-CA" sz="2000" dirty="0" err="1">
                <a:solidFill>
                  <a:srgbClr val="C00000"/>
                </a:solidFill>
                <a:latin typeface="Univers Light" panose="020B0403020202020204" pitchFamily="34" charset="0"/>
              </a:rPr>
              <a:t>svg</a:t>
            </a:r>
            <a:r>
              <a:rPr lang="en-CA" sz="2000" dirty="0">
                <a:latin typeface="Univers Light" panose="020B0403020202020204" pitchFamily="34" charset="0"/>
              </a:rPr>
              <a:t>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PDF (.pdf)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EPS (.eps)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7ED2C-E15F-CEB0-0868-32EDDEAD1B0A}"/>
              </a:ext>
            </a:extLst>
          </p:cNvPr>
          <p:cNvSpPr txBox="1"/>
          <p:nvPr/>
        </p:nvSpPr>
        <p:spPr>
          <a:xfrm>
            <a:off x="581834" y="2104072"/>
            <a:ext cx="33158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PNG (.</a:t>
            </a:r>
            <a:r>
              <a:rPr lang="en-CA" sz="2000" dirty="0" err="1">
                <a:latin typeface="Univers Light" panose="020B0403020202020204" pitchFamily="34" charset="0"/>
              </a:rPr>
              <a:t>png</a:t>
            </a:r>
            <a:r>
              <a:rPr lang="en-CA" sz="2000" dirty="0">
                <a:latin typeface="Univers Light" panose="020B0403020202020204" pitchFamily="34" charset="0"/>
              </a:rPr>
              <a:t>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TIFF (.</a:t>
            </a:r>
            <a:r>
              <a:rPr lang="en-CA" sz="2000" dirty="0" err="1">
                <a:latin typeface="Univers Light" panose="020B0403020202020204" pitchFamily="34" charset="0"/>
              </a:rPr>
              <a:t>tif</a:t>
            </a:r>
            <a:r>
              <a:rPr lang="en-CA" sz="2000" dirty="0">
                <a:latin typeface="Univers Light" panose="020B0403020202020204" pitchFamily="34" charset="0"/>
              </a:rPr>
              <a:t>, .tiff)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JPEG (.jpg, .jpeg)</a:t>
            </a:r>
          </a:p>
        </p:txBody>
      </p:sp>
    </p:spTree>
    <p:extLst>
      <p:ext uri="{BB962C8B-B14F-4D97-AF65-F5344CB8AC3E}">
        <p14:creationId xmlns:p14="http://schemas.microsoft.com/office/powerpoint/2010/main" val="114944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ABEC-C483-B4F8-3BAF-7BED93DF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F4052-1877-2021-924E-2E7365DFBA28}"/>
              </a:ext>
            </a:extLst>
          </p:cNvPr>
          <p:cNvSpPr txBox="1"/>
          <p:nvPr/>
        </p:nvSpPr>
        <p:spPr>
          <a:xfrm>
            <a:off x="498208" y="525207"/>
            <a:ext cx="7165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Best practices for publication-quality figures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AEB4D-F3B1-B4FF-0083-3D25FE948306}"/>
              </a:ext>
            </a:extLst>
          </p:cNvPr>
          <p:cNvSpPr txBox="1"/>
          <p:nvPr/>
        </p:nvSpPr>
        <p:spPr>
          <a:xfrm>
            <a:off x="762307" y="1574683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Use vector formats whenever possible to preserve quality and editability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48E55-E8EE-B61B-4035-81D57B61630E}"/>
              </a:ext>
            </a:extLst>
          </p:cNvPr>
          <p:cNvSpPr txBox="1"/>
          <p:nvPr/>
        </p:nvSpPr>
        <p:spPr>
          <a:xfrm>
            <a:off x="762307" y="2516575"/>
            <a:ext cx="70821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Ensure text, labels, and legends remain readable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ED9C-E311-9F8E-C991-F7EC21C66C95}"/>
              </a:ext>
            </a:extLst>
          </p:cNvPr>
          <p:cNvSpPr txBox="1"/>
          <p:nvPr/>
        </p:nvSpPr>
        <p:spPr>
          <a:xfrm>
            <a:off x="762307" y="3220443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Align panels and use consistent spacing to create a balanced layout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3B015-1DA2-9C1E-97F2-9670FFBB304F}"/>
              </a:ext>
            </a:extLst>
          </p:cNvPr>
          <p:cNvSpPr txBox="1"/>
          <p:nvPr/>
        </p:nvSpPr>
        <p:spPr>
          <a:xfrm>
            <a:off x="738244" y="4170429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Use color thoughtfully and consider accessibility (e.g., colorblind-friendly palettes)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0491E-47E9-1D45-3ADE-F93A59DD3573}"/>
              </a:ext>
            </a:extLst>
          </p:cNvPr>
          <p:cNvSpPr txBox="1"/>
          <p:nvPr/>
        </p:nvSpPr>
        <p:spPr>
          <a:xfrm>
            <a:off x="762307" y="5120416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Export figures using journal-appropriate formats and dimensions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9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8BEA-7FD7-D8B1-F72E-F688E529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D8618-FC55-CDD3-2435-1FA752A4A789}"/>
              </a:ext>
            </a:extLst>
          </p:cNvPr>
          <p:cNvSpPr txBox="1"/>
          <p:nvPr/>
        </p:nvSpPr>
        <p:spPr>
          <a:xfrm>
            <a:off x="498208" y="525207"/>
            <a:ext cx="5782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Overview of the Inkscape interface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68F66-4950-160E-3771-6645E48CA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88" y="1423453"/>
            <a:ext cx="7258423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2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2: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Importing and editing plots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148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F5E3-B283-4454-C577-B5C2CF13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C01EB3-CC1A-02C4-A222-D8409AB75F40}"/>
              </a:ext>
            </a:extLst>
          </p:cNvPr>
          <p:cNvSpPr txBox="1"/>
          <p:nvPr/>
        </p:nvSpPr>
        <p:spPr>
          <a:xfrm>
            <a:off x="498208" y="525207"/>
            <a:ext cx="5362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familiarize with some tools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E6D0FAC2-7AB7-4E88-610B-CD7CC850A7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6243" y="1939721"/>
            <a:ext cx="2784872" cy="29785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73B323-F712-85EB-8179-910DF22C928C}"/>
              </a:ext>
            </a:extLst>
          </p:cNvPr>
          <p:cNvSpPr txBox="1"/>
          <p:nvPr/>
        </p:nvSpPr>
        <p:spPr>
          <a:xfrm>
            <a:off x="678086" y="1498373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Selector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EF69A-11BE-F5D6-0F32-0F03A0A70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568" y="2116587"/>
            <a:ext cx="2971090" cy="1005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FE8FFA-E7C2-5904-4BB0-2FDB644748F3}"/>
              </a:ext>
            </a:extLst>
          </p:cNvPr>
          <p:cNvSpPr txBox="1"/>
          <p:nvPr/>
        </p:nvSpPr>
        <p:spPr>
          <a:xfrm>
            <a:off x="678085" y="3343527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Zoom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151A17-0BDF-96C4-665D-46D64D083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205" y="3862490"/>
            <a:ext cx="609631" cy="49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7D3CE8-0569-8660-62C5-39D5251B6CFB}"/>
              </a:ext>
            </a:extLst>
          </p:cNvPr>
          <p:cNvSpPr txBox="1"/>
          <p:nvPr/>
        </p:nvSpPr>
        <p:spPr>
          <a:xfrm>
            <a:off x="2667153" y="3957705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F3 or Z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CD4DA-1191-406F-BDA3-A49F26B5B007}"/>
              </a:ext>
            </a:extLst>
          </p:cNvPr>
          <p:cNvSpPr txBox="1"/>
          <p:nvPr/>
        </p:nvSpPr>
        <p:spPr>
          <a:xfrm>
            <a:off x="678084" y="4959518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Text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B5B61-DA92-3276-1A7D-1580F492C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452" y="5466761"/>
            <a:ext cx="552478" cy="4572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E913E0-039B-26D8-8A6E-01A9765B3449}"/>
              </a:ext>
            </a:extLst>
          </p:cNvPr>
          <p:cNvSpPr txBox="1"/>
          <p:nvPr/>
        </p:nvSpPr>
        <p:spPr>
          <a:xfrm>
            <a:off x="2667153" y="5501792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F8 or T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04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798D-7186-9C49-EE59-78768237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8FC8A2-2BC0-19E5-CFBD-4107B7D7A490}"/>
              </a:ext>
            </a:extLst>
          </p:cNvPr>
          <p:cNvSpPr txBox="1"/>
          <p:nvPr/>
        </p:nvSpPr>
        <p:spPr>
          <a:xfrm>
            <a:off x="498208" y="525207"/>
            <a:ext cx="5240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create some basic shapes</a:t>
            </a:r>
          </a:p>
        </p:txBody>
      </p:sp>
      <p:pic>
        <p:nvPicPr>
          <p:cNvPr id="7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962EC157-8445-4280-BBC1-0C0AE8C73A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6874" y="1939721"/>
            <a:ext cx="2784872" cy="2978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643B4-0421-07A5-1B8E-1312F29A09B6}"/>
              </a:ext>
            </a:extLst>
          </p:cNvPr>
          <p:cNvSpPr txBox="1"/>
          <p:nvPr/>
        </p:nvSpPr>
        <p:spPr>
          <a:xfrm>
            <a:off x="678086" y="1498373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rectangles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3614E-F465-F158-B6E3-4F75CF38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241" y="2022323"/>
            <a:ext cx="927589" cy="652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CE2EB-CD18-A863-5DC9-18BD52D3F90E}"/>
              </a:ext>
            </a:extLst>
          </p:cNvPr>
          <p:cNvSpPr txBox="1"/>
          <p:nvPr/>
        </p:nvSpPr>
        <p:spPr>
          <a:xfrm>
            <a:off x="2582932" y="2148374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R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97513-BA56-765E-7554-94F19BEDB11A}"/>
              </a:ext>
            </a:extLst>
          </p:cNvPr>
          <p:cNvSpPr txBox="1"/>
          <p:nvPr/>
        </p:nvSpPr>
        <p:spPr>
          <a:xfrm>
            <a:off x="678085" y="2998430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circles, ellipses and arcs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B5C466-4481-3E2D-D7D7-518BD2C32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714" y="3519817"/>
            <a:ext cx="668494" cy="5093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FA364-FBB0-ED6C-34FC-C27C273575CE}"/>
              </a:ext>
            </a:extLst>
          </p:cNvPr>
          <p:cNvSpPr txBox="1"/>
          <p:nvPr/>
        </p:nvSpPr>
        <p:spPr>
          <a:xfrm>
            <a:off x="2537102" y="3574426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906F7-6467-C3F0-11E9-1BBDD1C16716}"/>
              </a:ext>
            </a:extLst>
          </p:cNvPr>
          <p:cNvSpPr txBox="1"/>
          <p:nvPr/>
        </p:nvSpPr>
        <p:spPr>
          <a:xfrm>
            <a:off x="692254" y="4424482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polygons, stars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1A47F6-CC28-A124-99B1-A3722BFE4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127" y="4812847"/>
            <a:ext cx="860975" cy="710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C8A10B-8E31-366A-88C7-A89031F65E42}"/>
              </a:ext>
            </a:extLst>
          </p:cNvPr>
          <p:cNvSpPr txBox="1"/>
          <p:nvPr/>
        </p:nvSpPr>
        <p:spPr>
          <a:xfrm>
            <a:off x="2597100" y="4968115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*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824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DA5A-4EB3-568D-2BC4-82373765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FE747E-5917-9B42-9508-E5CD975A7CE9}"/>
              </a:ext>
            </a:extLst>
          </p:cNvPr>
          <p:cNvSpPr txBox="1"/>
          <p:nvPr/>
        </p:nvSpPr>
        <p:spPr>
          <a:xfrm>
            <a:off x="498208" y="525207"/>
            <a:ext cx="7523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Moving, scaling, skewing and rotating objects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902ACC-2DC9-75B3-6102-22A53BFBD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4" y="1325774"/>
            <a:ext cx="2438029" cy="10805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7116C4-DEDE-F69B-5610-FC9D19F2A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253" y="2553667"/>
            <a:ext cx="6069493" cy="35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1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83D0-6147-E9C2-2101-DF78E663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6E798-79A9-919A-100D-15012BF51531}"/>
              </a:ext>
            </a:extLst>
          </p:cNvPr>
          <p:cNvSpPr txBox="1"/>
          <p:nvPr/>
        </p:nvSpPr>
        <p:spPr>
          <a:xfrm>
            <a:off x="498208" y="525207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Colors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7D6AD-6D7F-E6F9-9782-8EC422780A57}"/>
              </a:ext>
            </a:extLst>
          </p:cNvPr>
          <p:cNvSpPr txBox="1"/>
          <p:nvPr/>
        </p:nvSpPr>
        <p:spPr>
          <a:xfrm>
            <a:off x="587306" y="1499539"/>
            <a:ext cx="7969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Univers Light" panose="020B0403020202020204" pitchFamily="34" charset="0"/>
              </a:rPr>
              <a:t>For a vector object, a separate style can be defined for its outline (or stroke) and its main color (or fill). This can be a plain color (e.g. dark red), a pattern (e.g. stripes or flowers), or a gradient (e.g. a smooth transition from green to blue).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DEF18-5693-3A86-BA97-CAE6BFA1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95" y="3274090"/>
            <a:ext cx="4038173" cy="2417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421668-DD10-D186-D157-4B099FB90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468" y="3650381"/>
            <a:ext cx="4095961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0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1F23-A0DE-8DF3-0671-3565F787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A5FF50-7F0B-06BE-4353-4CDAB45FA314}"/>
              </a:ext>
            </a:extLst>
          </p:cNvPr>
          <p:cNvSpPr txBox="1"/>
          <p:nvPr/>
        </p:nvSpPr>
        <p:spPr>
          <a:xfrm>
            <a:off x="498208" y="525207"/>
            <a:ext cx="3565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Understanding layers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B12438-F111-1162-E0F8-5E730165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98" y="2163049"/>
            <a:ext cx="4471790" cy="40132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1BF252-9E5B-8DA3-9203-548C454191D7}"/>
              </a:ext>
            </a:extLst>
          </p:cNvPr>
          <p:cNvSpPr txBox="1"/>
          <p:nvPr/>
        </p:nvSpPr>
        <p:spPr>
          <a:xfrm>
            <a:off x="692253" y="1401244"/>
            <a:ext cx="62980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Layers allow you to organize elements of your figures into sections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3525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F8AA-BF1C-482F-CD1B-82F83F1F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F8C79E-3E4D-E703-2A9D-9D919C41FCB8}"/>
              </a:ext>
            </a:extLst>
          </p:cNvPr>
          <p:cNvSpPr txBox="1"/>
          <p:nvPr/>
        </p:nvSpPr>
        <p:spPr>
          <a:xfrm>
            <a:off x="498208" y="525207"/>
            <a:ext cx="2425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Group 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BD46A-4736-2B0E-DA0A-623CE5A1D5F9}"/>
              </a:ext>
            </a:extLst>
          </p:cNvPr>
          <p:cNvSpPr txBox="1"/>
          <p:nvPr/>
        </p:nvSpPr>
        <p:spPr>
          <a:xfrm>
            <a:off x="692253" y="1401244"/>
            <a:ext cx="7320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b="1" dirty="0"/>
              <a:t>Grouping</a:t>
            </a:r>
            <a:r>
              <a:rPr lang="en-CA" dirty="0"/>
              <a:t> allows you to work with multiple objects as a single object: any changes you make will equally affect all members of the group, and the entire group can be copied, duplicated or cloned as a unit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5DDD40-5ABD-2122-AB76-04BC4827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976" y="3429000"/>
            <a:ext cx="4216617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28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F9A6-30C4-AD09-D273-11956C9D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26033-1291-B989-2CA4-A13E463834B9}"/>
              </a:ext>
            </a:extLst>
          </p:cNvPr>
          <p:cNvSpPr txBox="1"/>
          <p:nvPr/>
        </p:nvSpPr>
        <p:spPr>
          <a:xfrm>
            <a:off x="498208" y="525207"/>
            <a:ext cx="5202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Importing images into Inkscape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045C4B8F-9CC1-B909-4ECA-79BCA43021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495" y="1641874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688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6F0E-F7C6-783C-B361-F07D39A4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DC5BF8-9F39-1FFB-FB1E-9B8677210021}"/>
              </a:ext>
            </a:extLst>
          </p:cNvPr>
          <p:cNvSpPr txBox="1"/>
          <p:nvPr/>
        </p:nvSpPr>
        <p:spPr>
          <a:xfrm>
            <a:off x="498208" y="525207"/>
            <a:ext cx="5684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Managing fonts and text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858FA-7FB9-BB74-5611-B15D3CB3C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5" y="1234785"/>
            <a:ext cx="1835244" cy="939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09106-AFFE-4307-9FF3-FBC5F7974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591" y="3061734"/>
            <a:ext cx="5261988" cy="2853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9BB282-81B5-44DA-6E18-AFE7D67F8FE5}"/>
              </a:ext>
            </a:extLst>
          </p:cNvPr>
          <p:cNvSpPr txBox="1"/>
          <p:nvPr/>
        </p:nvSpPr>
        <p:spPr>
          <a:xfrm>
            <a:off x="677425" y="2360992"/>
            <a:ext cx="6298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dirty="0"/>
              <a:t>Two options of how to create text: </a:t>
            </a:r>
          </a:p>
        </p:txBody>
      </p:sp>
    </p:spTree>
    <p:extLst>
      <p:ext uri="{BB962C8B-B14F-4D97-AF65-F5344CB8AC3E}">
        <p14:creationId xmlns:p14="http://schemas.microsoft.com/office/powerpoint/2010/main" val="153038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32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3</a:t>
            </a: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Building a multi-panel figure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42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B028-C4A3-F54B-C1AB-63677E00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A94625-444D-929E-3E99-FE78E280A241}"/>
              </a:ext>
            </a:extLst>
          </p:cNvPr>
          <p:cNvSpPr txBox="1"/>
          <p:nvPr/>
        </p:nvSpPr>
        <p:spPr>
          <a:xfrm>
            <a:off x="498208" y="525207"/>
            <a:ext cx="52677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Alignment and distribution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3EA30A-5881-2D94-D240-87BE6A1B5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3" y="1397465"/>
            <a:ext cx="3257717" cy="14161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89A76B-CE99-DB7D-6922-2E56B150F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019" y="1257675"/>
            <a:ext cx="3283119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44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87B0-1D7A-1C1D-60CA-6DCC7428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461E8-8303-8861-41F5-93ABAC66FE2E}"/>
              </a:ext>
            </a:extLst>
          </p:cNvPr>
          <p:cNvSpPr txBox="1"/>
          <p:nvPr/>
        </p:nvSpPr>
        <p:spPr>
          <a:xfrm>
            <a:off x="498208" y="525207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Guides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A4AA1-73DD-7170-210C-65A8063C9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63" y="1438172"/>
            <a:ext cx="5874052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16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5E20-DE85-B7FD-2D3C-1A73B476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4AE140-D0B3-D82E-352E-64F2CA2596E8}"/>
              </a:ext>
            </a:extLst>
          </p:cNvPr>
          <p:cNvSpPr txBox="1"/>
          <p:nvPr/>
        </p:nvSpPr>
        <p:spPr>
          <a:xfrm>
            <a:off x="498208" y="525207"/>
            <a:ext cx="2645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Copying a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B500D-5931-64B2-374E-9617E6C6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41" y="1635044"/>
            <a:ext cx="7169518" cy="3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9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F302-F24B-092F-91C5-66360843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AE7E2-0A7D-5A77-7DEA-CE2D3AA684E5}"/>
              </a:ext>
            </a:extLst>
          </p:cNvPr>
          <p:cNvSpPr txBox="1"/>
          <p:nvPr/>
        </p:nvSpPr>
        <p:spPr>
          <a:xfrm>
            <a:off x="498208" y="525207"/>
            <a:ext cx="3584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Clipping and masking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BCBE2-41F2-B4DC-E9A5-6A99CBA1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9" y="2534479"/>
            <a:ext cx="2744951" cy="1923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634CF3-0D79-D77B-3E91-409078E9109A}"/>
              </a:ext>
            </a:extLst>
          </p:cNvPr>
          <p:cNvSpPr txBox="1"/>
          <p:nvPr/>
        </p:nvSpPr>
        <p:spPr>
          <a:xfrm>
            <a:off x="644524" y="1471211"/>
            <a:ext cx="62980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dirty="0"/>
              <a:t>Put the object that will serve as clip (or mask) above the object that you want to clip (or mask)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24DE8-B41D-8C2D-F88E-14D90AD1C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37" y="2399773"/>
            <a:ext cx="2657681" cy="20584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27E437-19AF-A8FC-353F-760174541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166" y="4678903"/>
            <a:ext cx="4235668" cy="1949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621441-2796-BA2B-3C75-2BEA41B44EFB}"/>
              </a:ext>
            </a:extLst>
          </p:cNvPr>
          <p:cNvSpPr txBox="1"/>
          <p:nvPr/>
        </p:nvSpPr>
        <p:spPr>
          <a:xfrm>
            <a:off x="3091340" y="6332793"/>
            <a:ext cx="1404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C</a:t>
            </a:r>
            <a:r>
              <a:rPr lang="en-CA" dirty="0"/>
              <a:t>lipping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E6237-6785-E8B4-0084-A5F85B3FBE2E}"/>
              </a:ext>
            </a:extLst>
          </p:cNvPr>
          <p:cNvSpPr txBox="1"/>
          <p:nvPr/>
        </p:nvSpPr>
        <p:spPr>
          <a:xfrm>
            <a:off x="5132973" y="6349831"/>
            <a:ext cx="1404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Masking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0695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C8051-9E54-2B8F-40AB-7193E83C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86E04-DDD4-50A5-340F-A8D50D921A02}"/>
              </a:ext>
            </a:extLst>
          </p:cNvPr>
          <p:cNvSpPr txBox="1"/>
          <p:nvPr/>
        </p:nvSpPr>
        <p:spPr>
          <a:xfrm>
            <a:off x="498208" y="525207"/>
            <a:ext cx="500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build a multi-panel figure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B8F372F8-744F-D47D-6285-8ED8B46A08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495" y="1641874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0485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4: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Exporting and closing remarks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258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2456-0D95-897E-87AE-23DDCC8D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119D98-3459-6694-8D61-F3FF984A0983}"/>
              </a:ext>
            </a:extLst>
          </p:cNvPr>
          <p:cNvSpPr txBox="1"/>
          <p:nvPr/>
        </p:nvSpPr>
        <p:spPr>
          <a:xfrm>
            <a:off x="498208" y="525207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Saving and exporting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FE37F-4821-E55F-CB32-7CBE1AC16751}"/>
              </a:ext>
            </a:extLst>
          </p:cNvPr>
          <p:cNvSpPr txBox="1"/>
          <p:nvPr/>
        </p:nvSpPr>
        <p:spPr>
          <a:xfrm>
            <a:off x="606492" y="1675191"/>
            <a:ext cx="81043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Always</a:t>
            </a:r>
            <a:r>
              <a:rPr lang="en-US" dirty="0"/>
              <a:t> save your current work as .</a:t>
            </a:r>
            <a:r>
              <a:rPr lang="en-US" dirty="0" err="1"/>
              <a:t>svg</a:t>
            </a:r>
            <a:r>
              <a:rPr lang="en-US" dirty="0"/>
              <a:t> (Inkscape .</a:t>
            </a:r>
            <a:r>
              <a:rPr lang="en-US" dirty="0" err="1"/>
              <a:t>svg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For exporting, you have several options: </a:t>
            </a:r>
          </a:p>
          <a:p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For high-quality figures ( Save a copy to PDF)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For raster graphics file format, export to one of the following formats:</a:t>
            </a:r>
          </a:p>
          <a:p>
            <a:r>
              <a:rPr lang="en-US" dirty="0"/>
              <a:t>	- PNG, JPEG, TIFF</a:t>
            </a:r>
          </a:p>
          <a:p>
            <a:r>
              <a:rPr lang="en-US" dirty="0"/>
              <a:t>		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0821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1A54-DA8C-C52C-3B9A-A44DF55B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9849BC-AF72-ED31-523B-90F0B406ACAC}"/>
              </a:ext>
            </a:extLst>
          </p:cNvPr>
          <p:cNvSpPr txBox="1"/>
          <p:nvPr/>
        </p:nvSpPr>
        <p:spPr>
          <a:xfrm>
            <a:off x="498208" y="525207"/>
            <a:ext cx="2302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Saving a 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A5D6D-3FC2-D35F-1EBF-C413D814046A}"/>
              </a:ext>
            </a:extLst>
          </p:cNvPr>
          <p:cNvSpPr txBox="1"/>
          <p:nvPr/>
        </p:nvSpPr>
        <p:spPr>
          <a:xfrm>
            <a:off x="498208" y="1317945"/>
            <a:ext cx="81043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Never save as PDF only, but always keep an SVG file, because the PDF file format supports a different set of features from the SVG file format and you may lose data in the process</a:t>
            </a:r>
          </a:p>
          <a:p>
            <a:endParaRPr lang="en-US" dirty="0"/>
          </a:p>
          <a:p>
            <a:r>
              <a:rPr lang="en-US" dirty="0"/>
              <a:t>		 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2AC08C-1203-CA67-5B5D-2A2FE278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645" y="2480250"/>
            <a:ext cx="3797495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12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0B62-945D-234F-E1E3-D0F4A337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631E0-DD0F-D0F1-CB6F-71473C0D6E3C}"/>
              </a:ext>
            </a:extLst>
          </p:cNvPr>
          <p:cNvSpPr txBox="1"/>
          <p:nvPr/>
        </p:nvSpPr>
        <p:spPr>
          <a:xfrm>
            <a:off x="498208" y="525207"/>
            <a:ext cx="340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Exporting a PNG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7374C-D1D3-07C0-7CD3-67F972B9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682" y="1254013"/>
            <a:ext cx="3600635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21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334570D-7938-367D-833E-098435DD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80561E-BC95-999B-819D-8FD7FA33003B}"/>
              </a:ext>
            </a:extLst>
          </p:cNvPr>
          <p:cNvSpPr txBox="1"/>
          <p:nvPr/>
        </p:nvSpPr>
        <p:spPr>
          <a:xfrm>
            <a:off x="365860" y="1513477"/>
            <a:ext cx="4083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Some useful resources: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89731-6299-CBC0-B005-5D0797211019}"/>
              </a:ext>
            </a:extLst>
          </p:cNvPr>
          <p:cNvSpPr txBox="1"/>
          <p:nvPr/>
        </p:nvSpPr>
        <p:spPr>
          <a:xfrm>
            <a:off x="822408" y="2838392"/>
            <a:ext cx="6937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3"/>
              </a:rPr>
              <a:t>Inkscape Beginner's Guide</a:t>
            </a: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4"/>
              </a:rPr>
              <a:t>Inkscape manual and books</a:t>
            </a: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5"/>
              </a:rPr>
              <a:t>NIH BIOART source </a:t>
            </a: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42609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93D9394-C1A6-312A-0E53-5AF23C12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9442820507_0_159">
            <a:extLst>
              <a:ext uri="{FF2B5EF4-FFF2-40B4-BE49-F238E27FC236}">
                <a16:creationId xmlns:a16="http://schemas.microsoft.com/office/drawing/2014/main" id="{12131013-CAB7-050A-11E2-D18AF99256F8}"/>
              </a:ext>
            </a:extLst>
          </p:cNvPr>
          <p:cNvSpPr txBox="1"/>
          <p:nvPr/>
        </p:nvSpPr>
        <p:spPr>
          <a:xfrm>
            <a:off x="274597" y="1499293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Please share with us your feedback!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DC885-9DC2-9AA8-683B-1425B187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418" y="2614584"/>
            <a:ext cx="2875157" cy="290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1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g19442820507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730" y="1636294"/>
            <a:ext cx="3774668" cy="1383957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9442820507_0_159"/>
          <p:cNvSpPr txBox="1"/>
          <p:nvPr/>
        </p:nvSpPr>
        <p:spPr>
          <a:xfrm>
            <a:off x="274597" y="1807055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Thanks for your attention!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6" name="Google Shape;766;g19442820507_0_159"/>
          <p:cNvSpPr txBox="1"/>
          <p:nvPr/>
        </p:nvSpPr>
        <p:spPr>
          <a:xfrm>
            <a:off x="369600" y="3168533"/>
            <a:ext cx="8404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Keep an eye for the workshops offered by the </a:t>
            </a:r>
            <a:r>
              <a:rPr lang="en-CA" sz="18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MiCM</a:t>
            </a: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7" name="Google Shape;767;g19442820507_0_159"/>
          <p:cNvSpPr txBox="1"/>
          <p:nvPr/>
        </p:nvSpPr>
        <p:spPr>
          <a:xfrm>
            <a:off x="6212119" y="3083684"/>
            <a:ext cx="293188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info-micm@mcgill.ca</a:t>
            </a: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https://www.mcgill.ca/micm/</a:t>
            </a:r>
            <a:r>
              <a:rPr lang="en-CA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5AC6830-7155-BDB2-F8DF-959E191DD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5576" y="5565134"/>
            <a:ext cx="4056488" cy="89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67FB2-330F-8BC8-5F8B-6202992C7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5022" y="4022514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2418F-B043-9104-198C-160E50DB7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975" y="4562871"/>
            <a:ext cx="5148291" cy="7722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4;g192f3904c50_0_11">
            <a:extLst>
              <a:ext uri="{FF2B5EF4-FFF2-40B4-BE49-F238E27FC236}">
                <a16:creationId xmlns:a16="http://schemas.microsoft.com/office/drawing/2014/main" id="{2FF74056-E887-53F0-9881-E50597E2CD62}"/>
              </a:ext>
            </a:extLst>
          </p:cNvPr>
          <p:cNvSpPr txBox="1"/>
          <p:nvPr/>
        </p:nvSpPr>
        <p:spPr>
          <a:xfrm>
            <a:off x="195925" y="274759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References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02CE3-C9B0-561C-08DB-9A9F326D3570}"/>
              </a:ext>
            </a:extLst>
          </p:cNvPr>
          <p:cNvSpPr txBox="1"/>
          <p:nvPr/>
        </p:nvSpPr>
        <p:spPr>
          <a:xfrm>
            <a:off x="427513" y="1246910"/>
            <a:ext cx="77070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t">
              <a:buFontTx/>
              <a:buChar char="-"/>
            </a:pPr>
            <a:r>
              <a:rPr lang="en-CA" dirty="0"/>
              <a:t>Inkscape manual. </a:t>
            </a:r>
            <a:r>
              <a:rPr lang="en-CA" dirty="0">
                <a:hlinkClick r:id="rId2"/>
              </a:rPr>
              <a:t>https://inkscape-manuals.readthedocs.io/en/latest/index.html</a:t>
            </a:r>
            <a:r>
              <a:rPr lang="en-CA" dirty="0"/>
              <a:t> </a:t>
            </a:r>
          </a:p>
          <a:p>
            <a:pPr marL="285750" indent="-285750" fontAlgn="t">
              <a:buFontTx/>
              <a:buChar char="-"/>
            </a:pPr>
            <a:r>
              <a:rPr lang="en-CA" dirty="0"/>
              <a:t>Zabala A. </a:t>
            </a:r>
            <a:r>
              <a:rPr lang="en-CA" i="1" dirty="0"/>
              <a:t>Designing Effective Scientific Figures: Practical Inkscape Tutorial</a:t>
            </a:r>
            <a:r>
              <a:rPr lang="en-CA" dirty="0"/>
              <a:t>. Bioinformatics Core Shared Training. </a:t>
            </a:r>
            <a:r>
              <a:rPr lang="en-CA" dirty="0">
                <a:hlinkClick r:id="rId3"/>
              </a:rPr>
              <a:t>https://bioinformatics-core-shared-training.github.io/effective-figure-design/DesigningEffectiveScientificFigures_Practical_INKSCAPE_Zabala_v00.pdf</a:t>
            </a:r>
            <a:endParaRPr lang="en-CA" dirty="0"/>
          </a:p>
          <a:p>
            <a:pPr marL="285750" indent="-285750" fontAlgn="t">
              <a:buFontTx/>
              <a:buChar char="-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0928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714C-CCF0-BE17-FE96-4A14B410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067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1078</Words>
  <Application>Microsoft Office PowerPoint</Application>
  <PresentationFormat>On-screen Show (4:3)</PresentationFormat>
  <Paragraphs>192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Kigelia</vt:lpstr>
      <vt:lpstr>Calibri</vt:lpstr>
      <vt:lpstr>Univers Light</vt:lpstr>
      <vt:lpstr>Arial</vt:lpstr>
      <vt:lpstr>Open Sans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Rachade Hmamouchi</dc:creator>
  <cp:lastModifiedBy>arielmadr@gmail.com</cp:lastModifiedBy>
  <cp:revision>37</cp:revision>
  <dcterms:created xsi:type="dcterms:W3CDTF">2019-07-29T14:54:16Z</dcterms:created>
  <dcterms:modified xsi:type="dcterms:W3CDTF">2026-10-13T20:54:18Z</dcterms:modified>
</cp:coreProperties>
</file>