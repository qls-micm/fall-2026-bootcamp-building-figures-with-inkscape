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40"/>
  </p:notesMasterIdLst>
  <p:sldIdLst>
    <p:sldId id="316" r:id="rId2"/>
    <p:sldId id="321" r:id="rId3"/>
    <p:sldId id="258" r:id="rId4"/>
    <p:sldId id="259" r:id="rId5"/>
    <p:sldId id="545" r:id="rId6"/>
    <p:sldId id="300" r:id="rId7"/>
    <p:sldId id="549" r:id="rId8"/>
    <p:sldId id="551" r:id="rId9"/>
    <p:sldId id="552" r:id="rId10"/>
    <p:sldId id="553" r:id="rId11"/>
    <p:sldId id="556" r:id="rId12"/>
    <p:sldId id="554" r:id="rId13"/>
    <p:sldId id="555" r:id="rId14"/>
    <p:sldId id="557" r:id="rId15"/>
    <p:sldId id="575" r:id="rId16"/>
    <p:sldId id="546" r:id="rId17"/>
    <p:sldId id="559" r:id="rId18"/>
    <p:sldId id="563" r:id="rId19"/>
    <p:sldId id="567" r:id="rId20"/>
    <p:sldId id="570" r:id="rId21"/>
    <p:sldId id="558" r:id="rId22"/>
    <p:sldId id="564" r:id="rId23"/>
    <p:sldId id="566" r:id="rId24"/>
    <p:sldId id="562" r:id="rId25"/>
    <p:sldId id="547" r:id="rId26"/>
    <p:sldId id="561" r:id="rId27"/>
    <p:sldId id="568" r:id="rId28"/>
    <p:sldId id="569" r:id="rId29"/>
    <p:sldId id="572" r:id="rId30"/>
    <p:sldId id="571" r:id="rId31"/>
    <p:sldId id="548" r:id="rId32"/>
    <p:sldId id="560" r:id="rId33"/>
    <p:sldId id="573" r:id="rId34"/>
    <p:sldId id="574" r:id="rId35"/>
    <p:sldId id="543" r:id="rId36"/>
    <p:sldId id="550" r:id="rId37"/>
    <p:sldId id="317" r:id="rId38"/>
    <p:sldId id="525" r:id="rId39"/>
  </p:sldIdLst>
  <p:sldSz cx="9144000" cy="6858000" type="screen4x3"/>
  <p:notesSz cx="6858000" cy="9144000"/>
  <p:embeddedFontLst>
    <p:embeddedFont>
      <p:font typeface="Helvetica" panose="020B0604020202020204" pitchFamily="34" charset="0"/>
      <p:regular r:id="rId41"/>
      <p:bold r:id="rId42"/>
      <p:italic r:id="rId43"/>
      <p:boldItalic r:id="rId44"/>
    </p:embeddedFont>
    <p:embeddedFont>
      <p:font typeface="Kigelia" panose="020B0503040502020203" pitchFamily="34" charset="0"/>
      <p:regular r:id="rId45"/>
      <p:bold r:id="rId46"/>
      <p:italic r:id="rId47"/>
      <p:boldItalic r:id="rId48"/>
    </p:embeddedFont>
    <p:embeddedFont>
      <p:font typeface="Open Sans Light" panose="020B0306030504020204" pitchFamily="34" charset="0"/>
      <p:regular r:id="rId49"/>
      <p:bold r:id="rId50"/>
      <p:italic r:id="rId51"/>
      <p:boldItalic r:id="rId52"/>
    </p:embeddedFont>
    <p:embeddedFont>
      <p:font typeface="Univers Light" panose="020B0403020202020204" pitchFamily="34" charset="0"/>
      <p:regular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2" roundtripDataSignature="AMtx7mgX0Ud/ncAW1nzs8h8v2YrO8ahS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4A89"/>
    <a:srgbClr val="F51D3D"/>
    <a:srgbClr val="6921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4317" autoAdjust="0"/>
  </p:normalViewPr>
  <p:slideViewPr>
    <p:cSldViewPr snapToGrid="0" snapToObjects="1">
      <p:cViewPr varScale="1">
        <p:scale>
          <a:sx n="53" d="100"/>
          <a:sy n="53" d="100"/>
        </p:scale>
        <p:origin x="16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" Type="http://schemas.openxmlformats.org/officeDocument/2006/relationships/slide" Target="slides/slide4.xml"/><Relationship Id="rId82" Type="http://customschemas.google.com/relationships/presentationmetadata" Target="metadata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9971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4037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9353f05b57_0_3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g19353f05b57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92f3904c50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92f3904c50_0_1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192f3904c50_0_1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E8053FA7-715D-04CB-089F-E3F706641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92f3904c50_0_192:notes">
            <a:extLst>
              <a:ext uri="{FF2B5EF4-FFF2-40B4-BE49-F238E27FC236}">
                <a16:creationId xmlns:a16="http://schemas.microsoft.com/office/drawing/2014/main" id="{A9266901-2692-B801-B78A-B898BE956A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92f3904c50_0_192:notes">
            <a:extLst>
              <a:ext uri="{FF2B5EF4-FFF2-40B4-BE49-F238E27FC236}">
                <a16:creationId xmlns:a16="http://schemas.microsoft.com/office/drawing/2014/main" id="{1348B8F2-4E4C-525B-5663-DD47FAE518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how to use Inkscape to transform a collection of independent plots into a polished, publication-ready figure</a:t>
            </a:r>
            <a:r>
              <a:rPr lang="en-CA" dirty="0">
                <a:effectLst/>
              </a:rPr>
              <a:t> </a:t>
            </a:r>
            <a:endParaRPr dirty="0"/>
          </a:p>
        </p:txBody>
      </p:sp>
      <p:sp>
        <p:nvSpPr>
          <p:cNvPr id="126" name="Google Shape;126;g192f3904c50_0_192:notes">
            <a:extLst>
              <a:ext uri="{FF2B5EF4-FFF2-40B4-BE49-F238E27FC236}">
                <a16:creationId xmlns:a16="http://schemas.microsoft.com/office/drawing/2014/main" id="{35EA3F40-FF81-64A4-6FD0-F536D8178A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9388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What you create with it is entirely yours, and you are free to distribute, share it, sell it, however you’d like — or keep it to yourself!</a:t>
            </a:r>
          </a:p>
          <a:p>
            <a:endParaRPr lang="en-CA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dirty="0"/>
              <a:t>All files either saved or exported from Inkscape in any format (SVG, PNG, PDF, etc.) are owned by the creators of the work (that's you!) and/or the original authors in case you use derivative works. </a:t>
            </a:r>
          </a:p>
          <a:p>
            <a:endParaRPr lang="en-US" dirty="0"/>
          </a:p>
          <a:p>
            <a:r>
              <a:rPr lang="en-US" dirty="0"/>
              <a:t>You are responsible for publishing your work under a license of your choosing and for tracking your use of derivative works in the software. You can add and modify your license information for each file in the 'File/Document properties' dialog within Inkscape.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511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44C80-B3F2-150C-FF17-921754A51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E5E72C-519D-399F-0342-3D7E108A3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E9C38-7C44-33E2-9FF5-7445D1AFC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CA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Artwork and Comics, Clip art, Icons and Logos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467BF-A2E5-9E55-2E54-8B439B9B7C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582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584C5-8FAB-1906-CEE3-0D6389B9A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ECA0C9-F8A9-6E07-4504-498180284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928828-C6DF-DB5E-2492-82B9E4761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6F119-55B3-BBE3-3606-940AC6422C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8507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5CA24-0EDD-8CB3-D63F-842F6272B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D2318C-2C7F-7D17-66A3-6B7462B941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95C45-53B0-C577-7CC2-94DAB7F6F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B37CA-ED22-2BB8-8EA4-5231CF0972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39598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F9DA5-7ABA-5470-2728-EBA79B2D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C25B50-24E1-D982-087D-8A15AEE90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B626CD-AE32-A617-47E3-93493F4C7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72F3A4-DEF1-80FA-E36E-15D08738C0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10492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89BC8-2ABB-EB8A-9AE7-B6D929D4B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C86A2-67FE-6CB1-D7DC-DC727E3BF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6F3701-BC59-661B-D3A0-215CEC4EE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B5DCA-9615-3981-0FDA-26BCE4DA77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9623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62246-C926-5E35-85A1-9B899FFE9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512CE-CF7A-90C5-1669-291DB1906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565540-607E-D80F-4542-F9D5753D2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D50A4-BFE1-228A-8462-013A9E1B1D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09946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BEA24-22F5-2E5F-F8C2-29ACFFF6B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FF5D6-2AF4-3055-EDCD-BE92BA360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B29EC-C122-AE44-4920-976EC5CB3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68E94-9AA1-83A4-CE85-589C1E51AA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89854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60BF6-2B93-5B6E-1D87-0FDD5C2F0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18F84F-BD24-CBDB-B4E6-5A5A21D0E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F0FD2-EB44-ED22-95CB-995531C1A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EE537-D4EB-ACEA-7D53-6CAD11703F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58224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9591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ED667-10E1-7F74-2603-33C8082F1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F30B8-CB55-7A8D-A79A-F579E8787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C3E8C-415C-389B-7182-60659E4C7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8AF51-D4B4-DF85-0EC2-0BDD630882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41656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8AE30-80D4-6BB9-1B3E-2888EA05F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29A4E-B3B0-5B0E-A47C-7FFE1C3E5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41C71-A6B9-9C09-E7A6-BA20D6165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1B2DE-1994-DC7C-BA29-DC4E0CA777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46327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B368D-AB34-F394-F6FF-A8D12049C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36E26-5FC7-EE4F-61D8-19BF66E01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F818A-A80C-9306-D3D6-7DCBB8198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649FA-DE6D-1FB7-442F-0D6B89A089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61512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76C6B-6269-EEAB-0F7D-F5C34CCF5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BFF0CE-1DEF-D5C4-0484-588810E6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508C1-1ABD-240A-59B9-F0695F28C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149CF-CC0A-64EF-CB88-1069FE5C8F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30407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7E3AB-45D8-157A-452B-4F7DD7AD2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73ABA-03CB-BD91-912E-065451D9C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D0A0C-6CC3-4AF6-D626-E07816994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311F8-9795-ACFB-5BC4-7AD4F1601F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69899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B5971-C3E4-6978-E827-83AAC350F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22F7A-037B-8C52-35DE-3540A3C9B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CDC53-DF39-56DC-C159-3D90BC02A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E711B-35C0-D375-982A-8DF7C71C05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21912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A068F-1A26-A385-C968-915FA0D77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60F6B2-2F05-158F-90B6-1AFA1EE9F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ABFF0-ADF4-1877-E908-DB11CCBFC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94554-4399-AD2D-A9D9-82750A9555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91091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5D055-99C8-8FB6-8AB8-4BF7DA56F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4B73BB-65D9-0187-2DBB-CA59BBA8F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E4CF5-5974-3F99-33BA-F4CCCE269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EE59B-58E1-9868-F482-151E21FD5B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4349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61370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528AF-2128-2C3B-A0A2-98E9604F1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6E764B-5828-BD8C-4FE9-330685181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0F4CF5-660A-CE38-C09D-9856483DC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14251-D3CB-217C-DAB9-CD1B73F2BE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95884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00E28-9F52-8158-7717-D41BE49B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496C7F-2E52-1ABF-F698-119E59C219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31CBAD-8D92-3BE6-3078-1E2623DD7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E55A4-703B-AE5E-4992-1B0B798BF2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21896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A4E87-93CA-9D73-AD8D-90E20CA67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B4112-0246-F468-7FFD-585D52C5E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F3BBDB-2F56-CF8E-9E4D-F537FE78E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1079D-18EF-05D0-140B-9726E39DB6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74104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995F1-3B33-F92B-7BCD-D474E8FCE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2AE6A2-38A8-8EEF-7DB4-1F9E5798B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7A8A3-5056-8DF1-6B66-2C30E94FB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37C74-113F-AFC0-E3D1-AEB340D461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91556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09AF1-D0CE-6DCE-880A-D7EBBDD4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D5D16F-9FCA-826A-AEA9-1325F8EC5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C947F8-48F8-5EBB-41D6-3DC668583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CBDA9-4972-2C42-1896-143F6CF297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67195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03391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FB95A-EE56-AC17-53CD-77C9FF90D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CE359-FFB4-3B7B-D477-F65469B7D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45183F-89A8-3327-5094-E5D61B9CD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325F0-229F-DA01-900D-37C4D9D83E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77481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4C3B8-C198-3153-304B-D080B6A32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3B576-8380-6C6A-B47F-F7057F262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522947-6CDA-A22C-BBEF-5160C6CF7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B9570-3D47-8BEA-493F-78FD52F069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964894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2F908-BE4A-7B9A-3482-F598B2EEB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F0385-C7DB-6366-3C7F-844BC0FCF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BBFF8-8119-AA9A-96ED-31E5198D0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CA" sz="1200" b="1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648AC-C199-3148-7412-69262449FB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79710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0F4D9793-9AB2-598E-6B05-73CCCB1C9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9EF8C02C-FFE7-4AF4-CB09-F1F053684E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87036988-9968-9A74-C1B8-829A67537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C8EB83E5-DF79-DD5B-18E4-FEA2D5157E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63272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>
          <a:extLst>
            <a:ext uri="{FF2B5EF4-FFF2-40B4-BE49-F238E27FC236}">
              <a16:creationId xmlns:a16="http://schemas.microsoft.com/office/drawing/2014/main" id="{98FD83A7-7E14-F393-89DA-5141F6E04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19442820507_0_159:notes">
            <a:extLst>
              <a:ext uri="{FF2B5EF4-FFF2-40B4-BE49-F238E27FC236}">
                <a16:creationId xmlns:a16="http://schemas.microsoft.com/office/drawing/2014/main" id="{67F64AA4-9671-A1F9-B136-C9B3DD40E6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0" name="Google Shape;760;g19442820507_0_159:notes">
            <a:extLst>
              <a:ext uri="{FF2B5EF4-FFF2-40B4-BE49-F238E27FC236}">
                <a16:creationId xmlns:a16="http://schemas.microsoft.com/office/drawing/2014/main" id="{496224B9-50B7-690D-B013-6481D76F8E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1" name="Google Shape;761;g19442820507_0_159:notes">
            <a:extLst>
              <a:ext uri="{FF2B5EF4-FFF2-40B4-BE49-F238E27FC236}">
                <a16:creationId xmlns:a16="http://schemas.microsoft.com/office/drawing/2014/main" id="{705F0904-CDA5-C388-CB85-7C11D25D52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24118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19442820507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0" name="Google Shape;760;g19442820507_0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1" name="Google Shape;761;g19442820507_0_1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apositive de titre">
  <p:cSld name="2_Diapositive de titr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/>
          <p:nvPr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7"/>
          <p:cNvSpPr/>
          <p:nvPr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rgbClr val="BBE1E5"/>
          </a:solidFill>
          <a:ln w="12700" cap="flat" cmpd="sng">
            <a:solidFill>
              <a:srgbClr val="C6E4D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36548" y="121579"/>
            <a:ext cx="4197350" cy="101295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e de titre">
  <p:cSld name="1_Diapositive de titr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/>
          <p:nvPr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1"/>
          <p:cNvSpPr/>
          <p:nvPr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rgbClr val="BBE1E5"/>
          </a:solidFill>
          <a:ln w="12700" cap="flat" cmpd="sng">
            <a:solidFill>
              <a:srgbClr val="C6E4D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36548" y="121586"/>
            <a:ext cx="4197350" cy="101295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1"/>
          <p:cNvSpPr txBox="1">
            <a:spLocks noGrp="1"/>
          </p:cNvSpPr>
          <p:nvPr>
            <p:ph type="body" idx="1"/>
          </p:nvPr>
        </p:nvSpPr>
        <p:spPr>
          <a:xfrm>
            <a:off x="242372" y="1454228"/>
            <a:ext cx="8658743" cy="49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2"/>
              <a:buFont typeface="Calibri"/>
              <a:buNone/>
              <a:defRPr sz="320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>
            <a:spLocks noGrp="1"/>
          </p:cNvSpPr>
          <p:nvPr>
            <p:ph type="pic" idx="2"/>
          </p:nvPr>
        </p:nvSpPr>
        <p:spPr>
          <a:xfrm>
            <a:off x="3887391" y="987431"/>
            <a:ext cx="4629150" cy="4873628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5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598"/>
              <a:buNone/>
              <a:defRPr sz="1598"/>
            </a:lvl1pPr>
            <a:lvl2pPr marL="914400" lvl="1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403"/>
              <a:buNone/>
              <a:defRPr sz="1403"/>
            </a:lvl2pPr>
            <a:lvl3pPr marL="1371600" lvl="2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4pPr>
            <a:lvl5pPr marL="2286000" lvl="4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5pPr>
            <a:lvl6pPr marL="2743200" lvl="5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6pPr>
            <a:lvl7pPr marL="3200400" lvl="6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7pPr>
            <a:lvl8pPr marL="3657600" lvl="7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8pPr>
            <a:lvl9pPr marL="4114800" lvl="8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8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3"/>
              <a:buFont typeface="Calibri"/>
              <a:buNone/>
              <a:defRPr sz="440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273" algn="l" rtl="0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2798"/>
              <a:buFont typeface="Arial"/>
              <a:buChar char="•"/>
              <a:defRPr sz="27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727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Char char="•"/>
              <a:defRPr sz="20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" name="Google Shape;12;p6"/>
          <p:cNvGrpSpPr/>
          <p:nvPr/>
        </p:nvGrpSpPr>
        <p:grpSpPr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3" name="Google Shape;13;p6"/>
            <p:cNvSpPr/>
            <p:nvPr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4" name="Google Shape;14;p6"/>
            <p:cNvSpPr/>
            <p:nvPr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5" name="Google Shape;15;p6"/>
            <p:cNvSpPr/>
            <p:nvPr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6" name="Google Shape;16;p6"/>
            <p:cNvSpPr/>
            <p:nvPr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7" name="Google Shape;17;p6"/>
            <p:cNvSpPr/>
            <p:nvPr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  <p:pic>
        <p:nvPicPr>
          <p:cNvPr id="18" name="Google Shape;18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84992" y="6411199"/>
            <a:ext cx="1759009" cy="42450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6" r:id="rId4"/>
    <p:sldLayoutId id="2147483657" r:id="rId5"/>
    <p:sldLayoutId id="214748365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hyperlink" Target="https://inkscape.org/doc/keys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hyperlink" Target="https://inkscape.org/doc/keys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inkscape-manuals.readthedocs.io/en/latest/index.html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ioart.niaid.nih.gov/" TargetMode="External"/><Relationship Id="rId4" Type="http://schemas.openxmlformats.org/officeDocument/2006/relationships/hyperlink" Target="https://inkscape.org/learn/books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www.mcgill.ca/micm/" TargetMode="External"/><Relationship Id="rId4" Type="http://schemas.openxmlformats.org/officeDocument/2006/relationships/hyperlink" Target="mailto:info-micm@mcgill.ca" TargetMode="External"/><Relationship Id="rId9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bioinformatics-core-shared-training.github.io/effective-figure-design/DesigningEffectiveScientificFigures_Practical_INKSCAPE_Zabala_v00.pdf" TargetMode="External"/><Relationship Id="rId2" Type="http://schemas.openxmlformats.org/officeDocument/2006/relationships/hyperlink" Target="https://inkscape-manuals.readthedocs.io/en/latest/index.html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5C165F-BC2D-0A42-B582-A27AE4DB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194560"/>
            <a:ext cx="8046720" cy="914400"/>
          </a:xfrm>
        </p:spPr>
        <p:txBody>
          <a:bodyPr>
            <a:normAutofit/>
          </a:bodyPr>
          <a:lstStyle/>
          <a:p>
            <a:pPr algn="ctr"/>
            <a:r>
              <a:rPr lang="en-CA" sz="4000" dirty="0">
                <a:latin typeface="Helvetica"/>
                <a:cs typeface="Helvetica"/>
              </a:rPr>
              <a:t>Building figures with Inkscape</a:t>
            </a:r>
            <a:endParaRPr lang="en-CA" dirty="0">
              <a:latin typeface="Helvetica" pitchFamily="2" charset="0"/>
              <a:cs typeface="Helvetic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513291-C55D-7CB6-6FB8-00826C7B6F25}"/>
              </a:ext>
            </a:extLst>
          </p:cNvPr>
          <p:cNvSpPr txBox="1"/>
          <p:nvPr/>
        </p:nvSpPr>
        <p:spPr>
          <a:xfrm>
            <a:off x="91440" y="5074920"/>
            <a:ext cx="4480560" cy="8156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>
              <a:buSzPts val="1900"/>
            </a:pPr>
            <a:r>
              <a:rPr lang="en-CA" sz="1500" dirty="0">
                <a:latin typeface="Helvetica Light"/>
              </a:rPr>
              <a:t>Instructor: </a:t>
            </a:r>
            <a:r>
              <a:rPr lang="en-CA" sz="1600" dirty="0">
                <a:latin typeface="Univers Light" panose="020B0403020202020204" pitchFamily="34" charset="0"/>
              </a:rPr>
              <a:t>Ariel Madrigal</a:t>
            </a:r>
          </a:p>
          <a:p>
            <a:pPr lvl="0">
              <a:buSzPts val="1900"/>
            </a:pPr>
            <a:r>
              <a:rPr lang="en-CA" sz="1500" dirty="0">
                <a:latin typeface="Helvetica Light"/>
              </a:rPr>
              <a:t>Facilitator: </a:t>
            </a:r>
            <a:r>
              <a:rPr lang="en-CA" sz="1600" dirty="0">
                <a:latin typeface="Univers Light" panose="020B0403020202020204" pitchFamily="34" charset="0"/>
              </a:rPr>
              <a:t>Senthilkumar Kailasam</a:t>
            </a:r>
          </a:p>
          <a:p>
            <a:r>
              <a:rPr lang="en-CA" sz="1500" dirty="0">
                <a:latin typeface="Helvetica Light"/>
              </a:rPr>
              <a:t>October 29, 2026</a:t>
            </a:r>
            <a:endParaRPr lang="en-CA" dirty="0">
              <a:latin typeface="Helvetica 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157290"/>
            <a:ext cx="804672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 dirty="0">
                <a:solidFill>
                  <a:srgbClr val="C8102E"/>
                </a:solidFill>
              </a:rPr>
              <a:t>CODE TO MANUSCRIPT BOOTCAMP  ·  DAY </a:t>
            </a:r>
            <a:r>
              <a:rPr lang="en-US" sz="1300" b="1" i="0" dirty="0">
                <a:solidFill>
                  <a:srgbClr val="C8102E"/>
                </a:solidFill>
              </a:rPr>
              <a:t>4</a:t>
            </a:r>
            <a:endParaRPr sz="1300" b="1" i="0" dirty="0">
              <a:solidFill>
                <a:srgbClr val="C8102E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34CCA6-CDD6-465D-2360-AB7DC40CC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534" y="86062"/>
            <a:ext cx="2869466" cy="7395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9423C5-7D7C-586B-AA0E-EB613C5E2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04329"/>
            <a:ext cx="3295078" cy="7283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ED38D6-DAFB-3D69-C0D0-22E7332E7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092" y="781026"/>
            <a:ext cx="3087814" cy="170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27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12D43-9137-DB7C-570B-E48AB2308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59969" y="5396173"/>
            <a:ext cx="6224058" cy="6463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CA" sz="1800" dirty="0">
                <a:latin typeface="Helvetica" panose="020B0604020202020204" pitchFamily="34" charset="0"/>
                <a:cs typeface="Helvetica" panose="020B0604020202020204" pitchFamily="34" charset="0"/>
              </a:rPr>
              <a:t>Location: 550 Sherbrooke Street, Montreal, Quebec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2A9C4-6F5B-9A18-012E-5626D25E3582}"/>
              </a:ext>
            </a:extLst>
          </p:cNvPr>
          <p:cNvSpPr txBox="1"/>
          <p:nvPr/>
        </p:nvSpPr>
        <p:spPr>
          <a:xfrm>
            <a:off x="820547" y="1461827"/>
            <a:ext cx="750290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dirty="0">
                <a:latin typeface="Helvetica" pitchFamily="2" charset="0"/>
              </a:rPr>
              <a:t>QLS-MiCM mission statement: d</a:t>
            </a:r>
            <a:r>
              <a:rPr lang="en-CA" sz="1800" b="0" i="0" dirty="0">
                <a:solidFill>
                  <a:srgbClr val="000000"/>
                </a:solidFill>
                <a:effectLst/>
                <a:latin typeface="Helvetica" pitchFamily="2" charset="0"/>
                <a:cs typeface="Calibri"/>
              </a:rPr>
              <a:t>eliver quality workshops designed to help biomedical researchers develop the skills they need to succeed.</a:t>
            </a:r>
            <a:endParaRPr lang="en-CA" sz="1800" dirty="0">
              <a:latin typeface="Helvetica" pitchFamily="2" charset="0"/>
              <a:cs typeface="Calibri"/>
            </a:endParaRPr>
          </a:p>
        </p:txBody>
      </p:sp>
      <p:pic>
        <p:nvPicPr>
          <p:cNvPr id="10" name="Picture 9" descr="A logo with a letter m&#10;&#10;Description automatically generated">
            <a:extLst>
              <a:ext uri="{FF2B5EF4-FFF2-40B4-BE49-F238E27FC236}">
                <a16:creationId xmlns:a16="http://schemas.microsoft.com/office/drawing/2014/main" id="{E494228A-9E5D-1800-FDEC-760556611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825" y="208818"/>
            <a:ext cx="3732349" cy="900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0D0C58-4777-B836-81EE-F027A53CFFAF}"/>
              </a:ext>
            </a:extLst>
          </p:cNvPr>
          <p:cNvSpPr txBox="1"/>
          <p:nvPr/>
        </p:nvSpPr>
        <p:spPr>
          <a:xfrm>
            <a:off x="60708" y="6210464"/>
            <a:ext cx="4596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sz="1800" dirty="0">
                <a:latin typeface="Helvetica" panose="020B0604020202020204" pitchFamily="34" charset="0"/>
                <a:cs typeface="Helvetica" panose="020B0604020202020204" pitchFamily="34" charset="0"/>
              </a:rPr>
              <a:t>https://www.mcgill.ca/micm</a:t>
            </a:r>
          </a:p>
        </p:txBody>
      </p:sp>
      <p:pic>
        <p:nvPicPr>
          <p:cNvPr id="2" name="Picture 1" descr="A map of a city&#10;&#10;Description automatically generated">
            <a:extLst>
              <a:ext uri="{FF2B5EF4-FFF2-40B4-BE49-F238E27FC236}">
                <a16:creationId xmlns:a16="http://schemas.microsoft.com/office/drawing/2014/main" id="{0D7302FE-4674-2672-DBA9-50C4E86C9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7753" y="2519758"/>
            <a:ext cx="2868491" cy="23565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4269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9353f05b57_0_387"/>
          <p:cNvSpPr txBox="1"/>
          <p:nvPr/>
        </p:nvSpPr>
        <p:spPr>
          <a:xfrm>
            <a:off x="304275" y="1412586"/>
            <a:ext cx="72084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000000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Calibri"/>
              </a:rPr>
              <a:t>Outline: </a:t>
            </a:r>
            <a:endParaRPr sz="3200" b="0" i="0" u="none" strike="noStrike" cap="none" dirty="0">
              <a:solidFill>
                <a:srgbClr val="000000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Calibri"/>
            </a:endParaRPr>
          </a:p>
        </p:txBody>
      </p:sp>
      <p:sp>
        <p:nvSpPr>
          <p:cNvPr id="111" name="Google Shape;111;g19353f05b57_0_387"/>
          <p:cNvSpPr/>
          <p:nvPr/>
        </p:nvSpPr>
        <p:spPr>
          <a:xfrm>
            <a:off x="657250" y="2273683"/>
            <a:ext cx="528600" cy="500100"/>
          </a:xfrm>
          <a:prstGeom prst="ellipse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19353f05b57_0_387"/>
          <p:cNvSpPr txBox="1"/>
          <p:nvPr/>
        </p:nvSpPr>
        <p:spPr>
          <a:xfrm>
            <a:off x="1285874" y="2168184"/>
            <a:ext cx="7352799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24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Introduction to scientific figure design and Inkscape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121" name="Google Shape;121;g19353f05b57_0_387"/>
          <p:cNvSpPr/>
          <p:nvPr/>
        </p:nvSpPr>
        <p:spPr>
          <a:xfrm>
            <a:off x="657250" y="3157904"/>
            <a:ext cx="528600" cy="500100"/>
          </a:xfrm>
          <a:prstGeom prst="ellipse">
            <a:avLst/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 b="1" dirty="0"/>
              <a:t>2</a:t>
            </a: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19353f05b57_0_387"/>
          <p:cNvSpPr txBox="1"/>
          <p:nvPr/>
        </p:nvSpPr>
        <p:spPr>
          <a:xfrm>
            <a:off x="1285875" y="3184754"/>
            <a:ext cx="5245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24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Importing and editing plots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15" name="Google Shape;121;g19353f05b57_0_387">
            <a:extLst>
              <a:ext uri="{FF2B5EF4-FFF2-40B4-BE49-F238E27FC236}">
                <a16:creationId xmlns:a16="http://schemas.microsoft.com/office/drawing/2014/main" id="{1328640D-D9FF-7A42-A8CB-3C519002A34E}"/>
              </a:ext>
            </a:extLst>
          </p:cNvPr>
          <p:cNvSpPr/>
          <p:nvPr/>
        </p:nvSpPr>
        <p:spPr>
          <a:xfrm>
            <a:off x="663346" y="4104864"/>
            <a:ext cx="528600" cy="500100"/>
          </a:xfrm>
          <a:prstGeom prst="ellipse">
            <a:avLst/>
          </a:prstGeom>
          <a:solidFill>
            <a:srgbClr val="A04A89">
              <a:alpha val="52157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 b="1" dirty="0">
                <a:solidFill>
                  <a:schemeClr val="tx1"/>
                </a:solidFill>
              </a:rPr>
              <a:t>3</a:t>
            </a:r>
            <a:endParaRPr sz="1800" b="1" i="0" u="none" strike="noStrike" cap="none" dirty="0">
              <a:solidFill>
                <a:schemeClr val="tx1"/>
              </a:solidFill>
              <a:sym typeface="Arial"/>
            </a:endParaRPr>
          </a:p>
        </p:txBody>
      </p:sp>
      <p:sp>
        <p:nvSpPr>
          <p:cNvPr id="16" name="Google Shape;122;g19353f05b57_0_387">
            <a:extLst>
              <a:ext uri="{FF2B5EF4-FFF2-40B4-BE49-F238E27FC236}">
                <a16:creationId xmlns:a16="http://schemas.microsoft.com/office/drawing/2014/main" id="{7DE81327-07F1-EB4D-B068-23E42305AEF5}"/>
              </a:ext>
            </a:extLst>
          </p:cNvPr>
          <p:cNvSpPr txBox="1"/>
          <p:nvPr/>
        </p:nvSpPr>
        <p:spPr>
          <a:xfrm>
            <a:off x="1285873" y="4081551"/>
            <a:ext cx="5766091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700"/>
            </a:pPr>
            <a:r>
              <a:rPr lang="en-US" sz="2400" dirty="0">
                <a:latin typeface="Univers Light" panose="020B0403020202020204" pitchFamily="34" charset="0"/>
              </a:rPr>
              <a:t>Building a multi-panel figure 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2" name="Google Shape;121;g19353f05b57_0_387">
            <a:extLst>
              <a:ext uri="{FF2B5EF4-FFF2-40B4-BE49-F238E27FC236}">
                <a16:creationId xmlns:a16="http://schemas.microsoft.com/office/drawing/2014/main" id="{5FB427BD-E812-0F3D-AED4-3C2EFA1175AB}"/>
              </a:ext>
            </a:extLst>
          </p:cNvPr>
          <p:cNvSpPr/>
          <p:nvPr/>
        </p:nvSpPr>
        <p:spPr>
          <a:xfrm>
            <a:off x="663346" y="5061658"/>
            <a:ext cx="528600" cy="500100"/>
          </a:xfrm>
          <a:prstGeom prst="ellipse">
            <a:avLst/>
          </a:prstGeom>
          <a:solidFill>
            <a:srgbClr val="6921C9">
              <a:alpha val="52157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sym typeface="Arial"/>
              </a:rPr>
              <a:t>4</a:t>
            </a:r>
            <a:endParaRPr sz="1800" b="1" i="0" u="none" strike="noStrike" cap="none" dirty="0">
              <a:solidFill>
                <a:schemeClr val="tx1"/>
              </a:solidFill>
              <a:sym typeface="Arial"/>
            </a:endParaRPr>
          </a:p>
        </p:txBody>
      </p:sp>
      <p:sp>
        <p:nvSpPr>
          <p:cNvPr id="3" name="Google Shape;122;g19353f05b57_0_387">
            <a:extLst>
              <a:ext uri="{FF2B5EF4-FFF2-40B4-BE49-F238E27FC236}">
                <a16:creationId xmlns:a16="http://schemas.microsoft.com/office/drawing/2014/main" id="{CB74704F-39F5-E719-5765-39C3A2E43BFF}"/>
              </a:ext>
            </a:extLst>
          </p:cNvPr>
          <p:cNvSpPr txBox="1"/>
          <p:nvPr/>
        </p:nvSpPr>
        <p:spPr>
          <a:xfrm>
            <a:off x="1291971" y="5088508"/>
            <a:ext cx="5245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700"/>
            </a:pPr>
            <a:r>
              <a:rPr lang="en-CA" sz="2400" dirty="0">
                <a:latin typeface="Univers Light" panose="020B0403020202020204" pitchFamily="34" charset="0"/>
              </a:rPr>
              <a:t>Exporting and closing remarks 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92f3904c50_0_192"/>
          <p:cNvSpPr txBox="1"/>
          <p:nvPr/>
        </p:nvSpPr>
        <p:spPr>
          <a:xfrm>
            <a:off x="539900" y="1896925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000000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This is an interactive workshop :)</a:t>
            </a:r>
            <a:endParaRPr sz="3600" b="0" i="0" u="none" strike="noStrike" cap="none" dirty="0">
              <a:solidFill>
                <a:srgbClr val="000000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129" name="Google Shape;129;g192f3904c50_0_192"/>
          <p:cNvSpPr txBox="1"/>
          <p:nvPr/>
        </p:nvSpPr>
        <p:spPr>
          <a:xfrm>
            <a:off x="539900" y="3146378"/>
            <a:ext cx="79671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24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Feel free to interrupt or raise your hand to ask questions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ea typeface="Kigelia" panose="020B0503040502020203" pitchFamily="34" charset="0"/>
              <a:cs typeface="Kigelia" panose="020B0503040502020203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B70715B1-BEB1-1F92-B38E-E6FDD04CF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92f3904c50_0_192">
            <a:extLst>
              <a:ext uri="{FF2B5EF4-FFF2-40B4-BE49-F238E27FC236}">
                <a16:creationId xmlns:a16="http://schemas.microsoft.com/office/drawing/2014/main" id="{183CCFD1-F518-4D1A-461C-3533B4979E60}"/>
              </a:ext>
            </a:extLst>
          </p:cNvPr>
          <p:cNvSpPr txBox="1"/>
          <p:nvPr/>
        </p:nvSpPr>
        <p:spPr>
          <a:xfrm>
            <a:off x="369600" y="1831508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000000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The objective for today</a:t>
            </a:r>
            <a:endParaRPr sz="3600" b="0" i="0" u="none" strike="noStrike" cap="none" dirty="0">
              <a:solidFill>
                <a:srgbClr val="000000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3773A9-A3D5-8D48-B0BE-06F0B5ABD29C}"/>
              </a:ext>
            </a:extLst>
          </p:cNvPr>
          <p:cNvSpPr/>
          <p:nvPr/>
        </p:nvSpPr>
        <p:spPr>
          <a:xfrm>
            <a:off x="2285999" y="3287705"/>
            <a:ext cx="49329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To use Inkscape to transform a collection of independent plots into a polished, publication-ready figure</a:t>
            </a:r>
            <a:r>
              <a:rPr lang="en-CA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761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/>
          <p:cNvSpPr txBox="1"/>
          <p:nvPr/>
        </p:nvSpPr>
        <p:spPr>
          <a:xfrm>
            <a:off x="320616" y="2844239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4400"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1: </a:t>
            </a:r>
            <a:r>
              <a:rPr lang="en-CA" sz="3200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Introduction to scientific figure design and Inkscape 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73E47C-6179-0F49-8380-1136DEB6AA8F}"/>
              </a:ext>
            </a:extLst>
          </p:cNvPr>
          <p:cNvSpPr txBox="1"/>
          <p:nvPr/>
        </p:nvSpPr>
        <p:spPr>
          <a:xfrm>
            <a:off x="498208" y="525207"/>
            <a:ext cx="6561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Why use Inkscape for scientific figures?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CAC3AF-CD42-C8DC-A487-CD4078F607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01" y="1167346"/>
            <a:ext cx="3472866" cy="54728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A0F07D-5475-182B-79C1-3596D60CCD71}"/>
              </a:ext>
            </a:extLst>
          </p:cNvPr>
          <p:cNvSpPr txBox="1"/>
          <p:nvPr/>
        </p:nvSpPr>
        <p:spPr>
          <a:xfrm>
            <a:off x="4992450" y="1272258"/>
            <a:ext cx="338864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It’s free!</a:t>
            </a:r>
          </a:p>
          <a:p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Open source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Cross-platform (Mac, Windows, GNU/Linux)</a:t>
            </a:r>
          </a:p>
          <a:p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Supports vector graphics</a:t>
            </a:r>
          </a:p>
          <a:p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Enables creation of high-resolution figures</a:t>
            </a:r>
          </a:p>
        </p:txBody>
      </p:sp>
    </p:spTree>
    <p:extLst>
      <p:ext uri="{BB962C8B-B14F-4D97-AF65-F5344CB8AC3E}">
        <p14:creationId xmlns:p14="http://schemas.microsoft.com/office/powerpoint/2010/main" val="239880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0544D-37BB-7EC8-3B93-70F6755F6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BD911F-65A3-7654-7608-B4FF9CD0E721}"/>
              </a:ext>
            </a:extLst>
          </p:cNvPr>
          <p:cNvSpPr txBox="1"/>
          <p:nvPr/>
        </p:nvSpPr>
        <p:spPr>
          <a:xfrm>
            <a:off x="498208" y="525207"/>
            <a:ext cx="5379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What can you do with Inkscape?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5EBEB9-4C1C-3A45-E622-0E0327752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419" y="2355957"/>
            <a:ext cx="4079581" cy="34829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B05316-BCA1-EFE4-98AA-1F8D1004EDA2}"/>
              </a:ext>
            </a:extLst>
          </p:cNvPr>
          <p:cNvSpPr txBox="1"/>
          <p:nvPr/>
        </p:nvSpPr>
        <p:spPr>
          <a:xfrm>
            <a:off x="498208" y="1398765"/>
            <a:ext cx="3821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Scientific figures</a:t>
            </a:r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11799F-BDE5-E458-1E39-6CEB48658FA2}"/>
              </a:ext>
            </a:extLst>
          </p:cNvPr>
          <p:cNvSpPr txBox="1"/>
          <p:nvPr/>
        </p:nvSpPr>
        <p:spPr>
          <a:xfrm>
            <a:off x="4975058" y="1398765"/>
            <a:ext cx="38211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But also, much more! </a:t>
            </a:r>
            <a:endParaRPr lang="en-CA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6F52C9-7F45-34ED-9442-295121EC1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665" y="1860430"/>
            <a:ext cx="2305699" cy="23142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FD785F-0262-F5B7-8998-F3E9B5AF19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1240" y="2264564"/>
            <a:ext cx="1665823" cy="15059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051558A-FDD7-109B-CC86-941EBCDC9D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3368" y="4412442"/>
            <a:ext cx="1378064" cy="174367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30E9806-2BE6-B227-ED0B-065C30F904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6517" y="4412442"/>
            <a:ext cx="1755064" cy="151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01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7007F-A839-DE91-16B0-EA124D00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648F32-85D3-267A-8278-C556EB555FAC}"/>
              </a:ext>
            </a:extLst>
          </p:cNvPr>
          <p:cNvSpPr txBox="1"/>
          <p:nvPr/>
        </p:nvSpPr>
        <p:spPr>
          <a:xfrm>
            <a:off x="498208" y="525207"/>
            <a:ext cx="39212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Inkscape can be hard…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3D161A-837B-BB22-591A-E34925AEE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985" y="1939844"/>
            <a:ext cx="5002977" cy="27239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00ABE1-F108-2616-E31F-BAA1927AD696}"/>
              </a:ext>
            </a:extLst>
          </p:cNvPr>
          <p:cNvSpPr txBox="1"/>
          <p:nvPr/>
        </p:nvSpPr>
        <p:spPr>
          <a:xfrm>
            <a:off x="2118435" y="4930715"/>
            <a:ext cx="4602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But it’s worth it</a:t>
            </a:r>
          </a:p>
        </p:txBody>
      </p:sp>
    </p:spTree>
    <p:extLst>
      <p:ext uri="{BB962C8B-B14F-4D97-AF65-F5344CB8AC3E}">
        <p14:creationId xmlns:p14="http://schemas.microsoft.com/office/powerpoint/2010/main" val="8546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83E29-6AA7-189A-942A-238CFE8DC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2737E0-870E-FC9B-127E-B03393D74FD3}"/>
              </a:ext>
            </a:extLst>
          </p:cNvPr>
          <p:cNvSpPr txBox="1"/>
          <p:nvPr/>
        </p:nvSpPr>
        <p:spPr>
          <a:xfrm>
            <a:off x="498208" y="525207"/>
            <a:ext cx="41424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Vector vs raster graphics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426E2A-011C-7D68-2317-D3F3DF298DFA}"/>
              </a:ext>
            </a:extLst>
          </p:cNvPr>
          <p:cNvSpPr txBox="1"/>
          <p:nvPr/>
        </p:nvSpPr>
        <p:spPr>
          <a:xfrm>
            <a:off x="429434" y="1852589"/>
            <a:ext cx="39346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b="0" i="0" dirty="0">
                <a:solidFill>
                  <a:schemeClr val="tx1"/>
                </a:solidFill>
                <a:effectLst/>
                <a:latin typeface="Univers Light" panose="020B0403020202020204" pitchFamily="34" charset="0"/>
              </a:rPr>
              <a:t>Made of </a:t>
            </a:r>
            <a:r>
              <a:rPr lang="en-CA" sz="1800" b="1" i="0" dirty="0">
                <a:solidFill>
                  <a:schemeClr val="tx1"/>
                </a:solidFill>
                <a:effectLst/>
                <a:latin typeface="Univers Light" panose="020B0403020202020204" pitchFamily="34" charset="0"/>
              </a:rPr>
              <a:t>pixels</a:t>
            </a:r>
            <a:r>
              <a:rPr lang="en-CA" sz="1800" b="0" i="0" dirty="0">
                <a:solidFill>
                  <a:schemeClr val="tx1"/>
                </a:solidFill>
                <a:effectLst/>
                <a:latin typeface="Univers Light" panose="020B0403020202020204" pitchFamily="34" charset="0"/>
              </a:rPr>
              <a:t> arranged in a grid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b="0" i="0" dirty="0">
                <a:solidFill>
                  <a:schemeClr val="tx1"/>
                </a:solidFill>
                <a:effectLst/>
                <a:latin typeface="Univers Light" panose="020B0403020202020204" pitchFamily="34" charset="0"/>
              </a:rPr>
              <a:t>Resolution-dependent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b="0" i="0" dirty="0">
                <a:solidFill>
                  <a:schemeClr val="tx1"/>
                </a:solidFill>
                <a:effectLst/>
                <a:latin typeface="Univers Light" panose="020B0403020202020204" pitchFamily="34" charset="0"/>
              </a:rPr>
              <a:t>Become blurry or pixelated when enlarged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b="0" i="0" dirty="0">
                <a:solidFill>
                  <a:schemeClr val="tx1"/>
                </a:solidFill>
                <a:effectLst/>
                <a:latin typeface="Univers Light" panose="020B0403020202020204" pitchFamily="34" charset="0"/>
              </a:rPr>
              <a:t>Best for photographs and complex images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800" b="0" i="0" dirty="0">
                <a:solidFill>
                  <a:schemeClr val="tx1"/>
                </a:solidFill>
                <a:effectLst/>
                <a:latin typeface="Univers Light" panose="020B0403020202020204" pitchFamily="34" charset="0"/>
              </a:rPr>
              <a:t>Larger image dimensions are needed for high-quality printing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3D4359-AAB0-A9D8-AD0D-947E609E45F0}"/>
              </a:ext>
            </a:extLst>
          </p:cNvPr>
          <p:cNvSpPr txBox="1"/>
          <p:nvPr/>
        </p:nvSpPr>
        <p:spPr>
          <a:xfrm>
            <a:off x="429434" y="1281314"/>
            <a:ext cx="2307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Univers Light" panose="020B0403020202020204" pitchFamily="34" charset="0"/>
              </a:rPr>
              <a:t>Raster graphics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635E11-6E12-6920-F640-7DFF73D39717}"/>
              </a:ext>
            </a:extLst>
          </p:cNvPr>
          <p:cNvSpPr txBox="1"/>
          <p:nvPr/>
        </p:nvSpPr>
        <p:spPr>
          <a:xfrm>
            <a:off x="4703863" y="1281313"/>
            <a:ext cx="2307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  <a:latin typeface="Univers Light" panose="020B0403020202020204" pitchFamily="34" charset="0"/>
              </a:rPr>
              <a:t>Vector graphics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839466-3A48-F923-FAE1-28088D80C7D4}"/>
              </a:ext>
            </a:extLst>
          </p:cNvPr>
          <p:cNvSpPr txBox="1"/>
          <p:nvPr/>
        </p:nvSpPr>
        <p:spPr>
          <a:xfrm>
            <a:off x="4779962" y="1852589"/>
            <a:ext cx="41595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Made of </a:t>
            </a:r>
            <a:r>
              <a:rPr lang="en-CA" sz="1800" b="1" dirty="0">
                <a:latin typeface="Univers Light" panose="020B0403020202020204" pitchFamily="34" charset="0"/>
              </a:rPr>
              <a:t>mathematical shapes and paths</a:t>
            </a:r>
            <a:endParaRPr lang="en-CA" sz="1800" dirty="0">
              <a:latin typeface="Univers Light" panose="020B040302020202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Resolution-independent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Can be scaled to any size without losing quality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Individual elements remain editable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Ideal for plots, diagrams, illustrations, and figure assembly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44C731-86ED-140B-FA19-CB4596833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759" y="4366072"/>
            <a:ext cx="4142482" cy="230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103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8CD2B-BF8E-F1DB-BBA9-D2530177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D0013D-77B7-C6D6-3077-6E055FD9BCF6}"/>
              </a:ext>
            </a:extLst>
          </p:cNvPr>
          <p:cNvSpPr txBox="1"/>
          <p:nvPr/>
        </p:nvSpPr>
        <p:spPr>
          <a:xfrm>
            <a:off x="498208" y="525207"/>
            <a:ext cx="6221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When to use vector or raster images?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87F637-FA5D-4712-80D5-490706C70868}"/>
              </a:ext>
            </a:extLst>
          </p:cNvPr>
          <p:cNvSpPr txBox="1"/>
          <p:nvPr/>
        </p:nvSpPr>
        <p:spPr>
          <a:xfrm>
            <a:off x="429434" y="1875602"/>
            <a:ext cx="33158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CA" sz="1800" dirty="0">
                <a:latin typeface="Univers Light" panose="020B0403020202020204" pitchFamily="34" charset="0"/>
              </a:rPr>
              <a:t>Complex technical images:</a:t>
            </a:r>
          </a:p>
          <a:p>
            <a:pPr marL="342900" lvl="2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Microscopy images</a:t>
            </a:r>
          </a:p>
          <a:p>
            <a:pPr marL="342900" lvl="3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Histology slides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Plots with hundreds of thousands of points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953DD-37EF-B4DD-5B1B-5E42BA932C25}"/>
              </a:ext>
            </a:extLst>
          </p:cNvPr>
          <p:cNvSpPr txBox="1"/>
          <p:nvPr/>
        </p:nvSpPr>
        <p:spPr>
          <a:xfrm>
            <a:off x="429434" y="1281314"/>
            <a:ext cx="2307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Univers Light" panose="020B0403020202020204" pitchFamily="34" charset="0"/>
              </a:rPr>
              <a:t>Raster graphics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0D03E1-74B5-5E8B-186D-97EDAF749CF8}"/>
              </a:ext>
            </a:extLst>
          </p:cNvPr>
          <p:cNvSpPr txBox="1"/>
          <p:nvPr/>
        </p:nvSpPr>
        <p:spPr>
          <a:xfrm>
            <a:off x="4703863" y="1281313"/>
            <a:ext cx="2307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  <a:latin typeface="Univers Light" panose="020B0403020202020204" pitchFamily="34" charset="0"/>
              </a:rPr>
              <a:t>Vector graphics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DB78D-DA85-FCAD-1445-601D739997E0}"/>
              </a:ext>
            </a:extLst>
          </p:cNvPr>
          <p:cNvSpPr txBox="1"/>
          <p:nvPr/>
        </p:nvSpPr>
        <p:spPr>
          <a:xfrm>
            <a:off x="4736452" y="1875602"/>
            <a:ext cx="331580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CA" sz="1800" dirty="0">
                <a:latin typeface="Univers Light" panose="020B0403020202020204" pitchFamily="34" charset="0"/>
              </a:rPr>
              <a:t>When possible, use vector-based graphics: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Most of the computer-generated plots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Diagrams and schematics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1800" dirty="0">
                <a:latin typeface="Univers Light" panose="020B0403020202020204" pitchFamily="34" charset="0"/>
              </a:rPr>
              <a:t>Text, labels, arrows and annotations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E74A43-1040-E5F9-2AEC-043E0E7F9972}"/>
              </a:ext>
            </a:extLst>
          </p:cNvPr>
          <p:cNvSpPr txBox="1"/>
          <p:nvPr/>
        </p:nvSpPr>
        <p:spPr>
          <a:xfrm>
            <a:off x="4821814" y="4067405"/>
            <a:ext cx="331580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1800" b="1" dirty="0">
                <a:latin typeface="Univers Light" panose="020B0403020202020204" pitchFamily="34" charset="0"/>
              </a:rPr>
              <a:t>Either: </a:t>
            </a:r>
          </a:p>
          <a:p>
            <a:pPr marL="285750" lvl="0" indent="-285750" fontAlgn="t">
              <a:buFontTx/>
              <a:buChar char="-"/>
            </a:pPr>
            <a:r>
              <a:rPr lang="en-US" sz="1800" dirty="0">
                <a:latin typeface="Univers Light" panose="020B0403020202020204" pitchFamily="34" charset="0"/>
              </a:rPr>
              <a:t>Use rasterization options while exporting your figures (e.g. </a:t>
            </a:r>
            <a:r>
              <a:rPr lang="en-US" sz="1800" dirty="0" err="1">
                <a:latin typeface="Univers Light" panose="020B0403020202020204" pitchFamily="34" charset="0"/>
              </a:rPr>
              <a:t>ggrastr</a:t>
            </a:r>
            <a:r>
              <a:rPr lang="en-US" sz="1800" dirty="0">
                <a:latin typeface="Univers Light" panose="020B0403020202020204" pitchFamily="34" charset="0"/>
              </a:rPr>
              <a:t> in R)</a:t>
            </a:r>
          </a:p>
          <a:p>
            <a:pPr marL="285750" lvl="0" indent="-285750" fontAlgn="t">
              <a:buFontTx/>
              <a:buChar char="-"/>
            </a:pPr>
            <a:r>
              <a:rPr lang="en-US" sz="1800" dirty="0">
                <a:latin typeface="Univers Light" panose="020B0403020202020204" pitchFamily="34" charset="0"/>
              </a:rPr>
              <a:t>Export rasterized versions of the plot without labels</a:t>
            </a:r>
          </a:p>
          <a:p>
            <a:pPr lvl="0" fontAlgn="t"/>
            <a:endParaRPr lang="en-CA" sz="1800" dirty="0">
              <a:latin typeface="Univers Light" panose="020B0403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73EA25-FC81-BE55-E47F-12DE3E591E5B}"/>
              </a:ext>
            </a:extLst>
          </p:cNvPr>
          <p:cNvGrpSpPr/>
          <p:nvPr/>
        </p:nvGrpSpPr>
        <p:grpSpPr>
          <a:xfrm>
            <a:off x="962526" y="3429000"/>
            <a:ext cx="3359662" cy="3275273"/>
            <a:chOff x="962526" y="3429000"/>
            <a:chExt cx="3359662" cy="327527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FCBEE6E-9BAD-DFE5-A4F9-30F9C564A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0764" y="3429000"/>
              <a:ext cx="3171424" cy="3199203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3430BBA-9A97-C6C3-A310-E100079B4EE6}"/>
                </a:ext>
              </a:extLst>
            </p:cNvPr>
            <p:cNvSpPr/>
            <p:nvPr/>
          </p:nvSpPr>
          <p:spPr>
            <a:xfrm>
              <a:off x="962526" y="6472989"/>
              <a:ext cx="300790" cy="2312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135205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5ECA6-7CAD-39B9-B292-0C64FDC50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9E4284-90A4-0A10-ED7D-D6425C9B668D}"/>
              </a:ext>
            </a:extLst>
          </p:cNvPr>
          <p:cNvSpPr txBox="1"/>
          <p:nvPr/>
        </p:nvSpPr>
        <p:spPr>
          <a:xfrm>
            <a:off x="498208" y="525207"/>
            <a:ext cx="3583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Common file formats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8E9A6C-DB10-2F57-47D7-5E79807AB102}"/>
              </a:ext>
            </a:extLst>
          </p:cNvPr>
          <p:cNvSpPr txBox="1"/>
          <p:nvPr/>
        </p:nvSpPr>
        <p:spPr>
          <a:xfrm>
            <a:off x="429434" y="1281314"/>
            <a:ext cx="2307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Univers Light" panose="020B0403020202020204" pitchFamily="34" charset="0"/>
              </a:rPr>
              <a:t>Raster graphics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612978-6252-F535-6056-904F91BFF16D}"/>
              </a:ext>
            </a:extLst>
          </p:cNvPr>
          <p:cNvSpPr txBox="1"/>
          <p:nvPr/>
        </p:nvSpPr>
        <p:spPr>
          <a:xfrm>
            <a:off x="4703863" y="1281313"/>
            <a:ext cx="2307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  <a:latin typeface="Univers Light" panose="020B0403020202020204" pitchFamily="34" charset="0"/>
              </a:rPr>
              <a:t>Vector graphics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155A16-3CCF-9E19-DC1F-7C1F5EF8A526}"/>
              </a:ext>
            </a:extLst>
          </p:cNvPr>
          <p:cNvSpPr txBox="1"/>
          <p:nvPr/>
        </p:nvSpPr>
        <p:spPr>
          <a:xfrm>
            <a:off x="4703863" y="2104072"/>
            <a:ext cx="331580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rgbClr val="C00000"/>
                </a:solidFill>
                <a:latin typeface="Univers Light" panose="020B0403020202020204" pitchFamily="34" charset="0"/>
              </a:rPr>
              <a:t>SVG (.</a:t>
            </a:r>
            <a:r>
              <a:rPr lang="en-CA" sz="2000" dirty="0" err="1">
                <a:solidFill>
                  <a:srgbClr val="C00000"/>
                </a:solidFill>
                <a:latin typeface="Univers Light" panose="020B0403020202020204" pitchFamily="34" charset="0"/>
              </a:rPr>
              <a:t>svg</a:t>
            </a:r>
            <a:r>
              <a:rPr lang="en-CA" sz="2000" dirty="0">
                <a:latin typeface="Univers Light" panose="020B0403020202020204" pitchFamily="34" charset="0"/>
              </a:rPr>
              <a:t>)</a:t>
            </a:r>
          </a:p>
          <a:p>
            <a:pPr lvl="0" fontAlgn="t"/>
            <a:endParaRPr lang="en-CA" sz="2000" dirty="0">
              <a:latin typeface="Univers Light" panose="020B040302020202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>
                <a:latin typeface="Univers Light" panose="020B0403020202020204" pitchFamily="34" charset="0"/>
              </a:rPr>
              <a:t>PDF (.pdf)</a:t>
            </a:r>
          </a:p>
          <a:p>
            <a:pPr lvl="0" fontAlgn="t"/>
            <a:endParaRPr lang="en-CA" sz="2000" dirty="0">
              <a:latin typeface="Univers Light" panose="020B040302020202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>
                <a:latin typeface="Univers Light" panose="020B0403020202020204" pitchFamily="34" charset="0"/>
              </a:rPr>
              <a:t>EPS (.eps)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27ED2C-E15F-CEB0-0868-32EDDEAD1B0A}"/>
              </a:ext>
            </a:extLst>
          </p:cNvPr>
          <p:cNvSpPr txBox="1"/>
          <p:nvPr/>
        </p:nvSpPr>
        <p:spPr>
          <a:xfrm>
            <a:off x="581834" y="2104072"/>
            <a:ext cx="331580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>
                <a:latin typeface="Univers Light" panose="020B0403020202020204" pitchFamily="34" charset="0"/>
              </a:rPr>
              <a:t>PNG (.</a:t>
            </a:r>
            <a:r>
              <a:rPr lang="en-CA" sz="2000" dirty="0" err="1">
                <a:latin typeface="Univers Light" panose="020B0403020202020204" pitchFamily="34" charset="0"/>
              </a:rPr>
              <a:t>png</a:t>
            </a:r>
            <a:r>
              <a:rPr lang="en-CA" sz="2000" dirty="0">
                <a:latin typeface="Univers Light" panose="020B0403020202020204" pitchFamily="34" charset="0"/>
              </a:rPr>
              <a:t>)</a:t>
            </a:r>
          </a:p>
          <a:p>
            <a:pPr lvl="0" fontAlgn="t"/>
            <a:endParaRPr lang="en-CA" sz="2000" dirty="0">
              <a:latin typeface="Univers Light" panose="020B040302020202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>
                <a:latin typeface="Univers Light" panose="020B0403020202020204" pitchFamily="34" charset="0"/>
              </a:rPr>
              <a:t>TIFF (.</a:t>
            </a:r>
            <a:r>
              <a:rPr lang="en-CA" sz="2000" dirty="0" err="1">
                <a:latin typeface="Univers Light" panose="020B0403020202020204" pitchFamily="34" charset="0"/>
              </a:rPr>
              <a:t>tif</a:t>
            </a:r>
            <a:r>
              <a:rPr lang="en-CA" sz="2000" dirty="0">
                <a:latin typeface="Univers Light" panose="020B0403020202020204" pitchFamily="34" charset="0"/>
              </a:rPr>
              <a:t>, .tiff)</a:t>
            </a:r>
          </a:p>
          <a:p>
            <a:pPr lvl="0" fontAlgn="t"/>
            <a:endParaRPr lang="en-CA" sz="2000" dirty="0">
              <a:latin typeface="Univers Light" panose="020B040302020202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>
                <a:latin typeface="Univers Light" panose="020B0403020202020204" pitchFamily="34" charset="0"/>
              </a:rPr>
              <a:t>JPEG (.jpg, .jpeg)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DC9CEE-1170-2177-F051-281CF2376795}"/>
              </a:ext>
            </a:extLst>
          </p:cNvPr>
          <p:cNvSpPr txBox="1"/>
          <p:nvPr/>
        </p:nvSpPr>
        <p:spPr>
          <a:xfrm>
            <a:off x="332300" y="5252598"/>
            <a:ext cx="88117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1800" b="1" dirty="0">
                <a:latin typeface="Univers Light" panose="020B0403020202020204" pitchFamily="34" charset="0"/>
              </a:rPr>
              <a:t>Note:</a:t>
            </a:r>
          </a:p>
          <a:p>
            <a:pPr lvl="0" fontAlgn="t"/>
            <a:r>
              <a:rPr lang="en-CA" sz="1800" dirty="0">
                <a:latin typeface="Univers Light" panose="020B0403020202020204" pitchFamily="34" charset="0"/>
              </a:rPr>
              <a:t>If exporting as .</a:t>
            </a:r>
            <a:r>
              <a:rPr lang="en-CA" sz="1800" dirty="0" err="1">
                <a:latin typeface="Univers Light" panose="020B0403020202020204" pitchFamily="34" charset="0"/>
              </a:rPr>
              <a:t>svg</a:t>
            </a:r>
            <a:r>
              <a:rPr lang="en-CA" sz="1800" dirty="0">
                <a:latin typeface="Univers Light" panose="020B0403020202020204" pitchFamily="34" charset="0"/>
              </a:rPr>
              <a:t> in R, use the </a:t>
            </a:r>
            <a:r>
              <a:rPr lang="en-CA" sz="1800" dirty="0" err="1">
                <a:latin typeface="Univers Light" panose="020B0403020202020204" pitchFamily="34" charset="0"/>
              </a:rPr>
              <a:t>svglite</a:t>
            </a:r>
            <a:r>
              <a:rPr lang="en-CA" sz="1800" dirty="0">
                <a:latin typeface="Univers Light" panose="020B0403020202020204" pitchFamily="34" charset="0"/>
              </a:rPr>
              <a:t> package: </a:t>
            </a:r>
          </a:p>
          <a:p>
            <a:pPr lvl="0" fontAlgn="t"/>
            <a:r>
              <a:rPr lang="en-US" sz="1800" dirty="0" err="1">
                <a:latin typeface="Univers Light" panose="020B0403020202020204" pitchFamily="34" charset="0"/>
              </a:rPr>
              <a:t>svglite</a:t>
            </a:r>
            <a:r>
              <a:rPr lang="en-US" sz="1800" dirty="0">
                <a:latin typeface="Univers Light" panose="020B0403020202020204" pitchFamily="34" charset="0"/>
              </a:rPr>
              <a:t>::</a:t>
            </a:r>
            <a:r>
              <a:rPr lang="en-US" sz="1800" dirty="0" err="1">
                <a:latin typeface="Univers Light" panose="020B0403020202020204" pitchFamily="34" charset="0"/>
              </a:rPr>
              <a:t>svglite</a:t>
            </a:r>
            <a:r>
              <a:rPr lang="en-US" sz="1800" dirty="0">
                <a:latin typeface="Univers Light" panose="020B0403020202020204" pitchFamily="34" charset="0"/>
              </a:rPr>
              <a:t>(    file,    width = width,    height = height,    </a:t>
            </a:r>
            <a:r>
              <a:rPr lang="en-US" sz="1800" dirty="0" err="1">
                <a:latin typeface="Univers Light" panose="020B0403020202020204" pitchFamily="34" charset="0"/>
              </a:rPr>
              <a:t>fix_text_size</a:t>
            </a:r>
            <a:r>
              <a:rPr lang="en-US" sz="1800" dirty="0">
                <a:latin typeface="Univers Light" panose="020B0403020202020204" pitchFamily="34" charset="0"/>
              </a:rPr>
              <a:t> = FALSE)</a:t>
            </a:r>
            <a:endParaRPr lang="en-CA" sz="18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4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8ABEC-C483-B4F8-3BAF-7BED93DF7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CF4052-1877-2021-924E-2E7365DFBA28}"/>
              </a:ext>
            </a:extLst>
          </p:cNvPr>
          <p:cNvSpPr txBox="1"/>
          <p:nvPr/>
        </p:nvSpPr>
        <p:spPr>
          <a:xfrm>
            <a:off x="498208" y="525207"/>
            <a:ext cx="71657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Best practices for publication-quality figures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CAEB4D-F3B1-B4FF-0083-3D25FE948306}"/>
              </a:ext>
            </a:extLst>
          </p:cNvPr>
          <p:cNvSpPr txBox="1"/>
          <p:nvPr/>
        </p:nvSpPr>
        <p:spPr>
          <a:xfrm>
            <a:off x="762307" y="1574683"/>
            <a:ext cx="70821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Use vector formats whenever possible to preserve quality and editability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148E55-E8EE-B61B-4035-81D57B61630E}"/>
              </a:ext>
            </a:extLst>
          </p:cNvPr>
          <p:cNvSpPr txBox="1"/>
          <p:nvPr/>
        </p:nvSpPr>
        <p:spPr>
          <a:xfrm>
            <a:off x="762307" y="2516575"/>
            <a:ext cx="70821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Ensure text, labels, and legends remain readable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5ED9C-E311-9F8E-C991-F7EC21C66C95}"/>
              </a:ext>
            </a:extLst>
          </p:cNvPr>
          <p:cNvSpPr txBox="1"/>
          <p:nvPr/>
        </p:nvSpPr>
        <p:spPr>
          <a:xfrm>
            <a:off x="762307" y="3220443"/>
            <a:ext cx="70821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Align panels and use consistent spacing to create a balanced layout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3B015-1DA2-9C1E-97F2-9670FFBB304F}"/>
              </a:ext>
            </a:extLst>
          </p:cNvPr>
          <p:cNvSpPr txBox="1"/>
          <p:nvPr/>
        </p:nvSpPr>
        <p:spPr>
          <a:xfrm>
            <a:off x="738244" y="4170429"/>
            <a:ext cx="70821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Use color thoughtfully and consider accessibility (e.g., colorblind-friendly palettes)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50491E-47E9-1D45-3ADE-F93A59DD3573}"/>
              </a:ext>
            </a:extLst>
          </p:cNvPr>
          <p:cNvSpPr txBox="1"/>
          <p:nvPr/>
        </p:nvSpPr>
        <p:spPr>
          <a:xfrm>
            <a:off x="762307" y="5120416"/>
            <a:ext cx="70821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Export figures using journal-appropriate formats and dimensions</a:t>
            </a:r>
            <a:endParaRPr lang="en-CA" sz="20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39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28BEA-7FD7-D8B1-F72E-F688E529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CD8618-FC55-CDD3-2435-1FA752A4A789}"/>
              </a:ext>
            </a:extLst>
          </p:cNvPr>
          <p:cNvSpPr txBox="1"/>
          <p:nvPr/>
        </p:nvSpPr>
        <p:spPr>
          <a:xfrm>
            <a:off x="498208" y="525207"/>
            <a:ext cx="5782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Overview of the Inkscape interface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368F66-4950-160E-3771-6645E48CA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88" y="1423453"/>
            <a:ext cx="7258423" cy="454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027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5F075-7EF4-769D-EA11-803B75D3D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4B60BC-4C82-42D9-D155-0BC9B6921B2E}"/>
              </a:ext>
            </a:extLst>
          </p:cNvPr>
          <p:cNvSpPr txBox="1"/>
          <p:nvPr/>
        </p:nvSpPr>
        <p:spPr>
          <a:xfrm>
            <a:off x="498208" y="525207"/>
            <a:ext cx="55467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Manage the document properties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B95CC1-6BC3-4415-A99A-3CC5A67E4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4112" y="1658953"/>
            <a:ext cx="4496031" cy="4673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26A33B-974D-8880-A428-A35C71C33C7F}"/>
              </a:ext>
            </a:extLst>
          </p:cNvPr>
          <p:cNvSpPr txBox="1"/>
          <p:nvPr/>
        </p:nvSpPr>
        <p:spPr>
          <a:xfrm>
            <a:off x="762307" y="1153635"/>
            <a:ext cx="59614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Let’s go to File -&gt; Document Properties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0A4CA3-1235-66B1-A9CF-39AAB8B8EDDF}"/>
              </a:ext>
            </a:extLst>
          </p:cNvPr>
          <p:cNvSpPr txBox="1"/>
          <p:nvPr/>
        </p:nvSpPr>
        <p:spPr>
          <a:xfrm>
            <a:off x="6333677" y="2124183"/>
            <a:ext cx="25937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1mm == 3.78 </a:t>
            </a:r>
            <a:r>
              <a:rPr lang="en-US" sz="2000" dirty="0" err="1">
                <a:latin typeface="Univers Light" panose="020B0403020202020204" pitchFamily="34" charset="0"/>
              </a:rPr>
              <a:t>px</a:t>
            </a:r>
            <a:endParaRPr lang="en-CA" sz="20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203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/>
          <p:cNvSpPr txBox="1"/>
          <p:nvPr/>
        </p:nvSpPr>
        <p:spPr>
          <a:xfrm>
            <a:off x="320616" y="2901185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4400"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2: </a:t>
            </a:r>
            <a:r>
              <a:rPr lang="en-CA" sz="3200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Importing and editing plots 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9148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6F5E3-B283-4454-C577-B5C2CF130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C01EB3-CC1A-02C4-A222-D8409AB75F40}"/>
              </a:ext>
            </a:extLst>
          </p:cNvPr>
          <p:cNvSpPr txBox="1"/>
          <p:nvPr/>
        </p:nvSpPr>
        <p:spPr>
          <a:xfrm>
            <a:off x="498208" y="525207"/>
            <a:ext cx="53623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Let’s familiarize with some tools</a:t>
            </a:r>
          </a:p>
        </p:txBody>
      </p:sp>
      <p:pic>
        <p:nvPicPr>
          <p:cNvPr id="2" name="Google Shape;490;g192f3904c50_0_26" descr="Programmer female with solid fill">
            <a:extLst>
              <a:ext uri="{FF2B5EF4-FFF2-40B4-BE49-F238E27FC236}">
                <a16:creationId xmlns:a16="http://schemas.microsoft.com/office/drawing/2014/main" id="{E6D0FAC2-7AB7-4E88-610B-CD7CC850A7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26243" y="1939721"/>
            <a:ext cx="2784872" cy="297855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73B323-F712-85EB-8179-910DF22C928C}"/>
              </a:ext>
            </a:extLst>
          </p:cNvPr>
          <p:cNvSpPr txBox="1"/>
          <p:nvPr/>
        </p:nvSpPr>
        <p:spPr>
          <a:xfrm>
            <a:off x="678086" y="1498373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Selector tool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EF69A-11BE-F5D6-0F32-0F03A0A70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568" y="2116587"/>
            <a:ext cx="2971090" cy="10053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FE8FFA-E7C2-5904-4BB0-2FDB644748F3}"/>
              </a:ext>
            </a:extLst>
          </p:cNvPr>
          <p:cNvSpPr txBox="1"/>
          <p:nvPr/>
        </p:nvSpPr>
        <p:spPr>
          <a:xfrm>
            <a:off x="678085" y="3343527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Zoom tool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151A17-0BDF-96C4-665D-46D64D083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7205" y="3862490"/>
            <a:ext cx="609631" cy="4953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7D3CE8-0569-8660-62C5-39D5251B6CFB}"/>
              </a:ext>
            </a:extLst>
          </p:cNvPr>
          <p:cNvSpPr txBox="1"/>
          <p:nvPr/>
        </p:nvSpPr>
        <p:spPr>
          <a:xfrm>
            <a:off x="2667153" y="3957705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F3 or Z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BCD4DA-1191-406F-BDA3-A49F26B5B007}"/>
              </a:ext>
            </a:extLst>
          </p:cNvPr>
          <p:cNvSpPr txBox="1"/>
          <p:nvPr/>
        </p:nvSpPr>
        <p:spPr>
          <a:xfrm>
            <a:off x="678084" y="4959518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Text tool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8B5B61-DA92-3276-1A7D-1580F492CE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0452" y="5466761"/>
            <a:ext cx="552478" cy="4572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BE913E0-039B-26D8-8A6E-01A9765B3449}"/>
              </a:ext>
            </a:extLst>
          </p:cNvPr>
          <p:cNvSpPr txBox="1"/>
          <p:nvPr/>
        </p:nvSpPr>
        <p:spPr>
          <a:xfrm>
            <a:off x="2667153" y="5501792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F8 or T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EC312C-7455-10BD-FF69-4C69B5DC1995}"/>
              </a:ext>
            </a:extLst>
          </p:cNvPr>
          <p:cNvSpPr txBox="1"/>
          <p:nvPr/>
        </p:nvSpPr>
        <p:spPr>
          <a:xfrm>
            <a:off x="5552573" y="5501792"/>
            <a:ext cx="46020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Univers Light" panose="020B0403020202020204" pitchFamily="34" charset="0"/>
              </a:rPr>
              <a:t>Inkscape shortcuts</a:t>
            </a:r>
            <a:endParaRPr lang="en-CA" sz="1600" dirty="0">
              <a:hlinkClick r:id="rId7"/>
            </a:endParaRPr>
          </a:p>
          <a:p>
            <a:r>
              <a:rPr lang="en-CA" sz="1600" dirty="0">
                <a:hlinkClick r:id="rId7"/>
              </a:rPr>
              <a:t>https://inkscape.org/doc/keys.html</a:t>
            </a:r>
            <a:r>
              <a:rPr lang="en-CA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3045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5798D-7186-9C49-EE59-78768237A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8FC8A2-2BC0-19E5-CFBD-4107B7D7A490}"/>
              </a:ext>
            </a:extLst>
          </p:cNvPr>
          <p:cNvSpPr txBox="1"/>
          <p:nvPr/>
        </p:nvSpPr>
        <p:spPr>
          <a:xfrm>
            <a:off x="498208" y="525207"/>
            <a:ext cx="52405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Let’s create some basic shapes</a:t>
            </a:r>
          </a:p>
        </p:txBody>
      </p:sp>
      <p:pic>
        <p:nvPicPr>
          <p:cNvPr id="7" name="Google Shape;490;g192f3904c50_0_26" descr="Programmer female with solid fill">
            <a:extLst>
              <a:ext uri="{FF2B5EF4-FFF2-40B4-BE49-F238E27FC236}">
                <a16:creationId xmlns:a16="http://schemas.microsoft.com/office/drawing/2014/main" id="{962EC157-8445-4280-BBC1-0C0AE8C73A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6874" y="1939721"/>
            <a:ext cx="2784872" cy="29785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1643B4-0421-07A5-1B8E-1312F29A09B6}"/>
              </a:ext>
            </a:extLst>
          </p:cNvPr>
          <p:cNvSpPr txBox="1"/>
          <p:nvPr/>
        </p:nvSpPr>
        <p:spPr>
          <a:xfrm>
            <a:off x="678086" y="1498373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Make rectangles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93614E-F465-F158-B6E3-4F75CF387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241" y="2022323"/>
            <a:ext cx="927589" cy="6522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6CE2EB-CD18-A863-5DC9-18BD52D3F90E}"/>
              </a:ext>
            </a:extLst>
          </p:cNvPr>
          <p:cNvSpPr txBox="1"/>
          <p:nvPr/>
        </p:nvSpPr>
        <p:spPr>
          <a:xfrm>
            <a:off x="2582932" y="2148374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R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D97513-BA56-765E-7554-94F19BEDB11A}"/>
              </a:ext>
            </a:extLst>
          </p:cNvPr>
          <p:cNvSpPr txBox="1"/>
          <p:nvPr/>
        </p:nvSpPr>
        <p:spPr>
          <a:xfrm>
            <a:off x="678085" y="2998430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Make circles, ellipses and arcs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B5C466-4481-3E2D-D7D7-518BD2C323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8714" y="3519817"/>
            <a:ext cx="668494" cy="5093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9FA364-FBB0-ED6C-34FC-C27C273575CE}"/>
              </a:ext>
            </a:extLst>
          </p:cNvPr>
          <p:cNvSpPr txBox="1"/>
          <p:nvPr/>
        </p:nvSpPr>
        <p:spPr>
          <a:xfrm>
            <a:off x="2537102" y="3574426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E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4906F7-6467-C3F0-11E9-1BBDD1C16716}"/>
              </a:ext>
            </a:extLst>
          </p:cNvPr>
          <p:cNvSpPr txBox="1"/>
          <p:nvPr/>
        </p:nvSpPr>
        <p:spPr>
          <a:xfrm>
            <a:off x="692254" y="4424482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Make polygons, stars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1A47F6-CC28-A124-99B1-A3722BFE4E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127" y="4812847"/>
            <a:ext cx="860975" cy="71064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7C8A10B-8E31-366A-88C7-A89031F65E42}"/>
              </a:ext>
            </a:extLst>
          </p:cNvPr>
          <p:cNvSpPr txBox="1"/>
          <p:nvPr/>
        </p:nvSpPr>
        <p:spPr>
          <a:xfrm>
            <a:off x="2597100" y="4968115"/>
            <a:ext cx="38096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*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D53739-7C44-21E8-5638-620F08AFC36D}"/>
              </a:ext>
            </a:extLst>
          </p:cNvPr>
          <p:cNvSpPr txBox="1"/>
          <p:nvPr/>
        </p:nvSpPr>
        <p:spPr>
          <a:xfrm>
            <a:off x="5552573" y="5501792"/>
            <a:ext cx="46020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Univers Light" panose="020B0403020202020204" pitchFamily="34" charset="0"/>
              </a:rPr>
              <a:t>Inkscape shortcuts</a:t>
            </a:r>
            <a:endParaRPr lang="en-CA" sz="1600" dirty="0">
              <a:hlinkClick r:id="rId7"/>
            </a:endParaRPr>
          </a:p>
          <a:p>
            <a:r>
              <a:rPr lang="en-CA" sz="1600" dirty="0">
                <a:hlinkClick r:id="rId7"/>
              </a:rPr>
              <a:t>https://inkscape.org/doc/keys.html</a:t>
            </a:r>
            <a:r>
              <a:rPr lang="en-CA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6824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CDA5A-4EB3-568D-2BC4-823737655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FE747E-5917-9B42-9508-E5CD975A7CE9}"/>
              </a:ext>
            </a:extLst>
          </p:cNvPr>
          <p:cNvSpPr txBox="1"/>
          <p:nvPr/>
        </p:nvSpPr>
        <p:spPr>
          <a:xfrm>
            <a:off x="498208" y="525207"/>
            <a:ext cx="75232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Moving, scaling, skewing and rotating objects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902ACC-2DC9-75B3-6102-22A53BFBD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54" y="1325774"/>
            <a:ext cx="2438029" cy="10805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7116C4-DEDE-F69B-5610-FC9D19F2A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7253" y="2553667"/>
            <a:ext cx="6069493" cy="356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158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E83D0-6147-E9C2-2101-DF78E663A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06E798-79A9-919A-100D-15012BF51531}"/>
              </a:ext>
            </a:extLst>
          </p:cNvPr>
          <p:cNvSpPr txBox="1"/>
          <p:nvPr/>
        </p:nvSpPr>
        <p:spPr>
          <a:xfrm>
            <a:off x="498208" y="525207"/>
            <a:ext cx="12057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Colors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87D6AD-6D7F-E6F9-9782-8EC422780A57}"/>
              </a:ext>
            </a:extLst>
          </p:cNvPr>
          <p:cNvSpPr txBox="1"/>
          <p:nvPr/>
        </p:nvSpPr>
        <p:spPr>
          <a:xfrm>
            <a:off x="587306" y="1499539"/>
            <a:ext cx="79693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Univers Light" panose="020B0403020202020204" pitchFamily="34" charset="0"/>
              </a:rPr>
              <a:t>For a vector object, a separate style can be defined for its outline (or stroke) and its main color (or fill). This can be a plain color (e.g. dark red), a pattern (e.g. stripes or flowers), or a gradient (e.g. a smooth transition from green to blue).</a:t>
            </a:r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EDEF18-5693-3A86-BA97-CAE6BFA10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95" y="3274090"/>
            <a:ext cx="4038173" cy="24178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421668-DD10-D186-D157-4B099FB90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468" y="3650381"/>
            <a:ext cx="4095961" cy="131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40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51F23-A0DE-8DF3-0671-3565F7879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A5FF50-7F0B-06BE-4353-4CDAB45FA314}"/>
              </a:ext>
            </a:extLst>
          </p:cNvPr>
          <p:cNvSpPr txBox="1"/>
          <p:nvPr/>
        </p:nvSpPr>
        <p:spPr>
          <a:xfrm>
            <a:off x="498208" y="525207"/>
            <a:ext cx="3565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Understanding layers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B12438-F111-1162-E0F8-5E7301651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798" y="2163049"/>
            <a:ext cx="4471790" cy="40132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71BF252-9E5B-8DA3-9203-548C454191D7}"/>
              </a:ext>
            </a:extLst>
          </p:cNvPr>
          <p:cNvSpPr txBox="1"/>
          <p:nvPr/>
        </p:nvSpPr>
        <p:spPr>
          <a:xfrm>
            <a:off x="692253" y="1401244"/>
            <a:ext cx="62980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US" dirty="0"/>
              <a:t>Layers allow you to organize elements of your figures into sections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635254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AF8AA-BF1C-482F-CD1B-82F83F1F5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F8C79E-3E4D-E703-2A9D-9D919C41FCB8}"/>
              </a:ext>
            </a:extLst>
          </p:cNvPr>
          <p:cNvSpPr txBox="1"/>
          <p:nvPr/>
        </p:nvSpPr>
        <p:spPr>
          <a:xfrm>
            <a:off x="498208" y="525207"/>
            <a:ext cx="2425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Group objects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3BD46A-4736-2B0E-DA0A-623CE5A1D5F9}"/>
              </a:ext>
            </a:extLst>
          </p:cNvPr>
          <p:cNvSpPr txBox="1"/>
          <p:nvPr/>
        </p:nvSpPr>
        <p:spPr>
          <a:xfrm>
            <a:off x="692253" y="1401244"/>
            <a:ext cx="73207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CA" b="1" dirty="0"/>
              <a:t>Grouping</a:t>
            </a:r>
            <a:r>
              <a:rPr lang="en-CA" dirty="0"/>
              <a:t> allows you to work with multiple objects as a single object: any changes you make will equally affect all members of the group, and the entire group can be copied, duplicated or cloned as a unit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5DDD40-5ABD-2122-AB76-04BC4827A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976" y="3429000"/>
            <a:ext cx="4216617" cy="187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228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D6F0E-F7C6-783C-B361-F07D39A46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DC5BF8-9F39-1FFB-FB1E-9B8677210021}"/>
              </a:ext>
            </a:extLst>
          </p:cNvPr>
          <p:cNvSpPr txBox="1"/>
          <p:nvPr/>
        </p:nvSpPr>
        <p:spPr>
          <a:xfrm>
            <a:off x="498208" y="525207"/>
            <a:ext cx="56845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Managing fonts and text elements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1858FA-7FB9-BB74-5611-B15D3CB3C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25" y="1234785"/>
            <a:ext cx="1835244" cy="9398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809106-AFFE-4307-9FF3-FBC5F7974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591" y="3061734"/>
            <a:ext cx="5261988" cy="2853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9BB282-81B5-44DA-6E18-AFE7D67F8FE5}"/>
              </a:ext>
            </a:extLst>
          </p:cNvPr>
          <p:cNvSpPr txBox="1"/>
          <p:nvPr/>
        </p:nvSpPr>
        <p:spPr>
          <a:xfrm>
            <a:off x="677425" y="2360992"/>
            <a:ext cx="62980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CA" dirty="0"/>
              <a:t>Two options of how to create text: </a:t>
            </a:r>
          </a:p>
        </p:txBody>
      </p:sp>
    </p:spTree>
    <p:extLst>
      <p:ext uri="{BB962C8B-B14F-4D97-AF65-F5344CB8AC3E}">
        <p14:creationId xmlns:p14="http://schemas.microsoft.com/office/powerpoint/2010/main" val="15303897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3F9A6-30C4-AD09-D273-11956C9D6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726033-1291-B989-2CA4-A13E463834B9}"/>
              </a:ext>
            </a:extLst>
          </p:cNvPr>
          <p:cNvSpPr txBox="1"/>
          <p:nvPr/>
        </p:nvSpPr>
        <p:spPr>
          <a:xfrm>
            <a:off x="498208" y="525207"/>
            <a:ext cx="5202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Importing images into Inkscape</a:t>
            </a:r>
          </a:p>
        </p:txBody>
      </p:sp>
      <p:pic>
        <p:nvPicPr>
          <p:cNvPr id="2" name="Google Shape;490;g192f3904c50_0_26" descr="Programmer female with solid fill">
            <a:extLst>
              <a:ext uri="{FF2B5EF4-FFF2-40B4-BE49-F238E27FC236}">
                <a16:creationId xmlns:a16="http://schemas.microsoft.com/office/drawing/2014/main" id="{045C4B8F-9CC1-B909-4ECA-79BCA43021A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137" y="1641874"/>
            <a:ext cx="3863009" cy="38630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86D191-81A0-0038-57F3-717AAC693B18}"/>
              </a:ext>
            </a:extLst>
          </p:cNvPr>
          <p:cNvSpPr txBox="1"/>
          <p:nvPr/>
        </p:nvSpPr>
        <p:spPr>
          <a:xfrm>
            <a:off x="4572000" y="2004825"/>
            <a:ext cx="408428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Go to Exercises/data: </a:t>
            </a:r>
          </a:p>
          <a:p>
            <a:pPr lvl="0" fontAlgn="t"/>
            <a:endParaRPr lang="en-US" sz="2000" dirty="0">
              <a:latin typeface="Univers Light" panose="020B0403020202020204" pitchFamily="34" charset="0"/>
            </a:endParaRPr>
          </a:p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Import the same figure in different formats: </a:t>
            </a:r>
          </a:p>
          <a:p>
            <a:pPr lvl="0" fontAlgn="t"/>
            <a:endParaRPr lang="en-US" sz="2000" dirty="0">
              <a:latin typeface="Univers Light" panose="020B040302020202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2000" dirty="0">
                <a:latin typeface="Univers Light" panose="020B0403020202020204" pitchFamily="34" charset="0"/>
              </a:rPr>
              <a:t>PCA (.</a:t>
            </a:r>
            <a:r>
              <a:rPr lang="en-US" sz="2000" dirty="0" err="1">
                <a:latin typeface="Univers Light" panose="020B0403020202020204" pitchFamily="34" charset="0"/>
              </a:rPr>
              <a:t>png</a:t>
            </a:r>
            <a:r>
              <a:rPr lang="en-US" sz="2000" dirty="0">
                <a:latin typeface="Univers Light" panose="020B0403020202020204" pitchFamily="34" charset="0"/>
              </a:rPr>
              <a:t>, .pdf, .</a:t>
            </a:r>
            <a:r>
              <a:rPr lang="en-US" sz="2000" dirty="0" err="1">
                <a:latin typeface="Univers Light" panose="020B0403020202020204" pitchFamily="34" charset="0"/>
              </a:rPr>
              <a:t>svg</a:t>
            </a:r>
            <a:r>
              <a:rPr lang="en-US" sz="2000" dirty="0">
                <a:latin typeface="Univers Light" panose="020B0403020202020204" pitchFamily="34" charset="0"/>
              </a:rPr>
              <a:t>)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US" sz="2000" dirty="0">
                <a:latin typeface="Univers Light" panose="020B0403020202020204" pitchFamily="34" charset="0"/>
              </a:rPr>
              <a:t>PCA rasterized (.pdf, .</a:t>
            </a:r>
            <a:r>
              <a:rPr lang="en-US" sz="2000" dirty="0" err="1">
                <a:latin typeface="Univers Light" panose="020B0403020202020204" pitchFamily="34" charset="0"/>
              </a:rPr>
              <a:t>svg</a:t>
            </a:r>
            <a:r>
              <a:rPr lang="en-US" sz="2000" dirty="0">
                <a:latin typeface="Univers Light" panose="020B0403020202020204" pitchFamily="34" charset="0"/>
              </a:rPr>
              <a:t>)</a:t>
            </a:r>
            <a:endParaRPr lang="en-CA" sz="20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688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/>
          <p:cNvSpPr txBox="1"/>
          <p:nvPr/>
        </p:nvSpPr>
        <p:spPr>
          <a:xfrm>
            <a:off x="320616" y="2901185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4400"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</a:t>
            </a:r>
            <a:r>
              <a:rPr lang="en-CA" sz="3200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3</a:t>
            </a: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: </a:t>
            </a:r>
            <a:r>
              <a:rPr lang="en-CA" sz="3200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Building a multi-panel figure 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42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CB028-C4A3-F54B-C1AB-63677E002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A94625-444D-929E-3E99-FE78E280A241}"/>
              </a:ext>
            </a:extLst>
          </p:cNvPr>
          <p:cNvSpPr txBox="1"/>
          <p:nvPr/>
        </p:nvSpPr>
        <p:spPr>
          <a:xfrm>
            <a:off x="498208" y="525207"/>
            <a:ext cx="52677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Alignment and distribution tools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3EA30A-5881-2D94-D240-87BE6A1B5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93" y="1397465"/>
            <a:ext cx="3257717" cy="14161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C89A76B-CE99-DB7D-6922-2E56B150F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019" y="1257675"/>
            <a:ext cx="3283119" cy="489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444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587B0-1D7A-1C1D-60CA-6DCC7428A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8461E8-8303-8861-41F5-93ABAC66FE2E}"/>
              </a:ext>
            </a:extLst>
          </p:cNvPr>
          <p:cNvSpPr txBox="1"/>
          <p:nvPr/>
        </p:nvSpPr>
        <p:spPr>
          <a:xfrm>
            <a:off x="498208" y="525207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Guides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0A4AA1-73DD-7170-210C-65A8063C9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63" y="1438172"/>
            <a:ext cx="5874052" cy="398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616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B5E20-DE85-B7FD-2D3C-1A73B4760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4AE140-D0B3-D82E-352E-64F2CA2596E8}"/>
              </a:ext>
            </a:extLst>
          </p:cNvPr>
          <p:cNvSpPr txBox="1"/>
          <p:nvPr/>
        </p:nvSpPr>
        <p:spPr>
          <a:xfrm>
            <a:off x="498208" y="525207"/>
            <a:ext cx="26452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Copying a color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BB500D-5931-64B2-374E-9617E6C6C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41" y="1635044"/>
            <a:ext cx="7169518" cy="313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3696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5F302-F24B-092F-91C5-66360843B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2AE7E2-0A7D-5A77-7DEA-CE2D3AA684E5}"/>
              </a:ext>
            </a:extLst>
          </p:cNvPr>
          <p:cNvSpPr txBox="1"/>
          <p:nvPr/>
        </p:nvSpPr>
        <p:spPr>
          <a:xfrm>
            <a:off x="498208" y="525207"/>
            <a:ext cx="35846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Clipping and masking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DBCBE2-41F2-B4DC-E9A5-6A99CBA13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619" y="2534479"/>
            <a:ext cx="2744951" cy="19237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634CF3-0D79-D77B-3E91-409078E9109A}"/>
              </a:ext>
            </a:extLst>
          </p:cNvPr>
          <p:cNvSpPr txBox="1"/>
          <p:nvPr/>
        </p:nvSpPr>
        <p:spPr>
          <a:xfrm>
            <a:off x="644524" y="1471211"/>
            <a:ext cx="62980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CA" dirty="0"/>
              <a:t>Put the object that will serve as clip (or mask) above the object that you want to clip (or mask)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624DE8-B41D-8C2D-F88E-14D90AD1C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837" y="2399773"/>
            <a:ext cx="2657681" cy="20584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27E437-19AF-A8FC-353F-760174541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4166" y="4678903"/>
            <a:ext cx="4235668" cy="1949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3621441-2796-BA2B-3C75-2BEA41B44EFB}"/>
              </a:ext>
            </a:extLst>
          </p:cNvPr>
          <p:cNvSpPr txBox="1"/>
          <p:nvPr/>
        </p:nvSpPr>
        <p:spPr>
          <a:xfrm>
            <a:off x="3091340" y="6332793"/>
            <a:ext cx="14044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US" dirty="0"/>
              <a:t>C</a:t>
            </a:r>
            <a:r>
              <a:rPr lang="en-CA" dirty="0"/>
              <a:t>lipping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AE6237-6785-E8B4-0084-A5F85B3FBE2E}"/>
              </a:ext>
            </a:extLst>
          </p:cNvPr>
          <p:cNvSpPr txBox="1"/>
          <p:nvPr/>
        </p:nvSpPr>
        <p:spPr>
          <a:xfrm>
            <a:off x="5132973" y="6349831"/>
            <a:ext cx="14044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US" dirty="0"/>
              <a:t>Masking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106954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C8051-9E54-2B8F-40AB-7193E83C6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C86E04-DDD4-50A5-340F-A8D50D921A02}"/>
              </a:ext>
            </a:extLst>
          </p:cNvPr>
          <p:cNvSpPr txBox="1"/>
          <p:nvPr/>
        </p:nvSpPr>
        <p:spPr>
          <a:xfrm>
            <a:off x="498208" y="525207"/>
            <a:ext cx="5004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Let’s build a multi-panel figure</a:t>
            </a:r>
          </a:p>
        </p:txBody>
      </p:sp>
      <p:pic>
        <p:nvPicPr>
          <p:cNvPr id="2" name="Google Shape;490;g192f3904c50_0_26" descr="Programmer female with solid fill">
            <a:extLst>
              <a:ext uri="{FF2B5EF4-FFF2-40B4-BE49-F238E27FC236}">
                <a16:creationId xmlns:a16="http://schemas.microsoft.com/office/drawing/2014/main" id="{B8F372F8-744F-D47D-6285-8ED8B46A08B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991" y="1497495"/>
            <a:ext cx="3863009" cy="38630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3F134A-882C-D779-891A-5AEA4957DCE5}"/>
              </a:ext>
            </a:extLst>
          </p:cNvPr>
          <p:cNvSpPr txBox="1"/>
          <p:nvPr/>
        </p:nvSpPr>
        <p:spPr>
          <a:xfrm>
            <a:off x="4350723" y="1232800"/>
            <a:ext cx="408428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Import your own PDF figures generated in R or Python, either from previous workshops or from your own projects. For those who do not have their own figures:</a:t>
            </a:r>
          </a:p>
          <a:p>
            <a:pPr lvl="0" fontAlgn="t"/>
            <a:endParaRPr lang="en-US" sz="2000" dirty="0">
              <a:latin typeface="Univers Light" panose="020B0403020202020204" pitchFamily="34" charset="0"/>
            </a:endParaRPr>
          </a:p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Go to Exercises/data: </a:t>
            </a:r>
          </a:p>
          <a:p>
            <a:pPr lvl="0" fontAlgn="t"/>
            <a:endParaRPr lang="en-US" sz="2000" dirty="0">
              <a:latin typeface="Univers Light" panose="020B0403020202020204" pitchFamily="34" charset="0"/>
            </a:endParaRPr>
          </a:p>
          <a:p>
            <a:pPr lvl="0" fontAlgn="t"/>
            <a:r>
              <a:rPr lang="en-US" sz="2000" dirty="0">
                <a:latin typeface="Univers Light" panose="020B0403020202020204" pitchFamily="34" charset="0"/>
              </a:rPr>
              <a:t>Import the following figures: 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 err="1">
                <a:latin typeface="Univers Light" panose="020B0403020202020204" pitchFamily="34" charset="0"/>
              </a:rPr>
              <a:t>PCA_rasterised.svg</a:t>
            </a:r>
            <a:endParaRPr lang="en-CA" sz="2000" dirty="0">
              <a:latin typeface="Univers Light" panose="020B040302020202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>
                <a:latin typeface="Univers Light" panose="020B0403020202020204" pitchFamily="34" charset="0"/>
              </a:rPr>
              <a:t>Plot_expression.pdf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>
                <a:latin typeface="Univers Light" panose="020B0403020202020204" pitchFamily="34" charset="0"/>
              </a:rPr>
              <a:t>Heatmap_geneExpression.pdf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CA" sz="2000" dirty="0" err="1">
                <a:latin typeface="Univers Light" panose="020B0403020202020204" pitchFamily="34" charset="0"/>
              </a:rPr>
              <a:t>EnhancedVolcano_raster.svg</a:t>
            </a:r>
            <a:endParaRPr lang="en-CA" sz="2000" dirty="0">
              <a:latin typeface="Univers Light" panose="020B040302020202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endParaRPr lang="en-CA" sz="2000" dirty="0">
              <a:latin typeface="Univers Light" panose="020B0403020202020204" pitchFamily="34" charset="0"/>
            </a:endParaRPr>
          </a:p>
          <a:p>
            <a:pPr lvl="0" fontAlgn="t"/>
            <a:r>
              <a:rPr lang="en-CA" sz="2000" dirty="0">
                <a:latin typeface="Univers Light" panose="020B0403020202020204" pitchFamily="34" charset="0"/>
              </a:rPr>
              <a:t>Assemble a figure</a:t>
            </a:r>
          </a:p>
        </p:txBody>
      </p:sp>
    </p:spTree>
    <p:extLst>
      <p:ext uri="{BB962C8B-B14F-4D97-AF65-F5344CB8AC3E}">
        <p14:creationId xmlns:p14="http://schemas.microsoft.com/office/powerpoint/2010/main" val="41704856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/>
          <p:cNvSpPr txBox="1"/>
          <p:nvPr/>
        </p:nvSpPr>
        <p:spPr>
          <a:xfrm>
            <a:off x="320616" y="2901185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SzPts val="4400"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4: </a:t>
            </a:r>
            <a:r>
              <a:rPr lang="en-CA" sz="3200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Exporting and closing remarks 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0258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52456-0D95-897E-87AE-23DDCC8D3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119D98-3459-6694-8D61-F3FF984A0983}"/>
              </a:ext>
            </a:extLst>
          </p:cNvPr>
          <p:cNvSpPr txBox="1"/>
          <p:nvPr/>
        </p:nvSpPr>
        <p:spPr>
          <a:xfrm>
            <a:off x="498208" y="525207"/>
            <a:ext cx="3525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Saving and exporting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9FE37F-4821-E55F-CB32-7CBE1AC16751}"/>
              </a:ext>
            </a:extLst>
          </p:cNvPr>
          <p:cNvSpPr txBox="1"/>
          <p:nvPr/>
        </p:nvSpPr>
        <p:spPr>
          <a:xfrm>
            <a:off x="606492" y="1675191"/>
            <a:ext cx="810437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Always</a:t>
            </a:r>
            <a:r>
              <a:rPr lang="en-US" dirty="0"/>
              <a:t> save your current work as .</a:t>
            </a:r>
            <a:r>
              <a:rPr lang="en-US" dirty="0" err="1"/>
              <a:t>svg</a:t>
            </a:r>
            <a:r>
              <a:rPr lang="en-US" dirty="0"/>
              <a:t> (Inkscape .</a:t>
            </a:r>
            <a:r>
              <a:rPr lang="en-US" dirty="0" err="1"/>
              <a:t>svg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For exporting, you have several options: </a:t>
            </a:r>
          </a:p>
          <a:p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/>
              <a:t>For high-quality figures ( Save a copy to PDF)</a:t>
            </a:r>
          </a:p>
          <a:p>
            <a:pPr marL="342900" indent="-342900">
              <a:buFontTx/>
              <a:buChar char="-"/>
            </a:pPr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/>
              <a:t>For raster graphics file format, export to one of the following formats:</a:t>
            </a:r>
          </a:p>
          <a:p>
            <a:r>
              <a:rPr lang="en-US" dirty="0"/>
              <a:t>	- PNG, JPEG, TIFF</a:t>
            </a:r>
          </a:p>
          <a:p>
            <a:r>
              <a:rPr lang="en-US" dirty="0"/>
              <a:t>		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808216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21A54-DA8C-C52C-3B9A-A44DF55B4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9849BC-AF72-ED31-523B-90F0B406ACAC}"/>
              </a:ext>
            </a:extLst>
          </p:cNvPr>
          <p:cNvSpPr txBox="1"/>
          <p:nvPr/>
        </p:nvSpPr>
        <p:spPr>
          <a:xfrm>
            <a:off x="498208" y="525207"/>
            <a:ext cx="23022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Saving a PDF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DA5D6D-3FC2-D35F-1EBF-C413D814046A}"/>
              </a:ext>
            </a:extLst>
          </p:cNvPr>
          <p:cNvSpPr txBox="1"/>
          <p:nvPr/>
        </p:nvSpPr>
        <p:spPr>
          <a:xfrm>
            <a:off x="498208" y="1317945"/>
            <a:ext cx="810437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fontAlgn="t">
              <a:defRPr sz="2000">
                <a:latin typeface="Univers Light" panose="020B0403020202020204" pitchFamily="34" charset="0"/>
              </a:defRPr>
            </a:lvl1pPr>
          </a:lstStyle>
          <a:p>
            <a:r>
              <a:rPr lang="en-US" dirty="0"/>
              <a:t>Never save as PDF only, but always keep an SVG file, because the PDF file format supports a different set of features from the SVG file format and you may lose data in the process</a:t>
            </a:r>
          </a:p>
          <a:p>
            <a:endParaRPr lang="en-US" dirty="0"/>
          </a:p>
          <a:p>
            <a:r>
              <a:rPr lang="en-US" dirty="0"/>
              <a:t>		 </a:t>
            </a: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2AC08C-1203-CA67-5B5D-2A2FE278B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645" y="2480250"/>
            <a:ext cx="3797495" cy="370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9128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70B62-945D-234F-E1E3-D0F4A3377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C631E0-DD0F-D0F1-CB6F-71473C0D6E3C}"/>
              </a:ext>
            </a:extLst>
          </p:cNvPr>
          <p:cNvSpPr txBox="1"/>
          <p:nvPr/>
        </p:nvSpPr>
        <p:spPr>
          <a:xfrm>
            <a:off x="498208" y="525207"/>
            <a:ext cx="340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Exporting a PNG file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F7374C-D1D3-07C0-7CD3-67F972B94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682" y="1254013"/>
            <a:ext cx="3600635" cy="434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9214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2334570D-7938-367D-833E-098435DD3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80561E-BC95-999B-819D-8FD7FA33003B}"/>
              </a:ext>
            </a:extLst>
          </p:cNvPr>
          <p:cNvSpPr txBox="1"/>
          <p:nvPr/>
        </p:nvSpPr>
        <p:spPr>
          <a:xfrm>
            <a:off x="365860" y="1513477"/>
            <a:ext cx="40831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  <a:latin typeface="Univers Light" panose="020B0403020202020204" pitchFamily="34" charset="0"/>
              </a:rPr>
              <a:t>Some useful resources: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589731-6299-CBC0-B005-5D0797211019}"/>
              </a:ext>
            </a:extLst>
          </p:cNvPr>
          <p:cNvSpPr txBox="1"/>
          <p:nvPr/>
        </p:nvSpPr>
        <p:spPr>
          <a:xfrm>
            <a:off x="822408" y="2838392"/>
            <a:ext cx="6937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  <a:hlinkClick r:id="rId3"/>
              </a:rPr>
              <a:t>Inkscape Beginner's Guide</a:t>
            </a:r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  <a:hlinkClick r:id="rId4"/>
              </a:rPr>
              <a:t>Inkscape manual and books</a:t>
            </a:r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endParaRPr lang="en-US" sz="2400" dirty="0">
              <a:solidFill>
                <a:schemeClr val="tx1"/>
              </a:solidFill>
              <a:latin typeface="Univers Light" panose="020B0403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  <a:hlinkClick r:id="rId5"/>
              </a:rPr>
              <a:t>NIH BIOART source </a:t>
            </a:r>
            <a:r>
              <a:rPr lang="en-US" sz="2400" dirty="0">
                <a:solidFill>
                  <a:schemeClr val="tx1"/>
                </a:solidFill>
                <a:latin typeface="Univers Light" panose="020B0403020202020204" pitchFamily="34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426098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A93D9394-C1A6-312A-0E53-5AF23C128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19442820507_0_159">
            <a:extLst>
              <a:ext uri="{FF2B5EF4-FFF2-40B4-BE49-F238E27FC236}">
                <a16:creationId xmlns:a16="http://schemas.microsoft.com/office/drawing/2014/main" id="{12131013-CAB7-050A-11E2-D18AF99256F8}"/>
              </a:ext>
            </a:extLst>
          </p:cNvPr>
          <p:cNvSpPr txBox="1"/>
          <p:nvPr/>
        </p:nvSpPr>
        <p:spPr>
          <a:xfrm>
            <a:off x="274597" y="1499293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Please share with us your feedback!</a:t>
            </a:r>
            <a:endParaRPr sz="28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B951AC-AA6E-59CE-25F0-C97C68F83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260" y="2307321"/>
            <a:ext cx="3609474" cy="360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6611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g19442820507_0_1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19578" y="1556899"/>
            <a:ext cx="2931881" cy="1059104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g19442820507_0_159"/>
          <p:cNvSpPr txBox="1"/>
          <p:nvPr/>
        </p:nvSpPr>
        <p:spPr>
          <a:xfrm>
            <a:off x="369600" y="1602023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Thanks for your attention!</a:t>
            </a:r>
            <a:endParaRPr sz="28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766" name="Google Shape;766;g19442820507_0_159"/>
          <p:cNvSpPr txBox="1"/>
          <p:nvPr/>
        </p:nvSpPr>
        <p:spPr>
          <a:xfrm>
            <a:off x="487975" y="2723934"/>
            <a:ext cx="42024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18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Keep an eye for the workshops offered by the </a:t>
            </a:r>
            <a:r>
              <a:rPr lang="en-CA" sz="1800" b="0" i="0" u="none" strike="noStrike" cap="none" dirty="0" err="1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MiCM</a:t>
            </a:r>
            <a:r>
              <a:rPr lang="en-CA" sz="18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!</a:t>
            </a:r>
            <a:endParaRPr sz="18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767" name="Google Shape;767;g19442820507_0_159"/>
          <p:cNvSpPr txBox="1"/>
          <p:nvPr/>
        </p:nvSpPr>
        <p:spPr>
          <a:xfrm>
            <a:off x="575191" y="3664384"/>
            <a:ext cx="2931881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info-micm@mcgill.ca</a:t>
            </a:r>
            <a:r>
              <a:rPr lang="en-CA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https://www.mcgill.ca/micm/</a:t>
            </a:r>
            <a:r>
              <a:rPr lang="en-CA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 descr="A logo with text on it&#10;&#10;AI-generated content may be incorrect.">
            <a:extLst>
              <a:ext uri="{FF2B5EF4-FFF2-40B4-BE49-F238E27FC236}">
                <a16:creationId xmlns:a16="http://schemas.microsoft.com/office/drawing/2014/main" id="{75AC6830-7155-BDB2-F8DF-959E191DD4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35576" y="5565134"/>
            <a:ext cx="4056488" cy="8966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867FB2-330F-8BC8-5F8B-6202992C75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5022" y="4263149"/>
            <a:ext cx="3467753" cy="1915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32418F-B043-9104-198C-160E50DB7B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975" y="4803506"/>
            <a:ext cx="5148291" cy="7722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AD17BA-EB01-92DD-6CEE-E01C232CFF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5143" y="2580710"/>
            <a:ext cx="2187510" cy="218751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74;g192f3904c50_0_11">
            <a:extLst>
              <a:ext uri="{FF2B5EF4-FFF2-40B4-BE49-F238E27FC236}">
                <a16:creationId xmlns:a16="http://schemas.microsoft.com/office/drawing/2014/main" id="{2FF74056-E887-53F0-9881-E50597E2CD62}"/>
              </a:ext>
            </a:extLst>
          </p:cNvPr>
          <p:cNvSpPr txBox="1"/>
          <p:nvPr/>
        </p:nvSpPr>
        <p:spPr>
          <a:xfrm>
            <a:off x="195925" y="274759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28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References</a:t>
            </a:r>
            <a:endParaRPr sz="28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F02CE3-C9B0-561C-08DB-9A9F326D3570}"/>
              </a:ext>
            </a:extLst>
          </p:cNvPr>
          <p:cNvSpPr txBox="1"/>
          <p:nvPr/>
        </p:nvSpPr>
        <p:spPr>
          <a:xfrm>
            <a:off x="427513" y="1246910"/>
            <a:ext cx="77070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t">
              <a:buFontTx/>
              <a:buChar char="-"/>
            </a:pPr>
            <a:r>
              <a:rPr lang="en-CA" dirty="0"/>
              <a:t>Inkscape manual. </a:t>
            </a:r>
            <a:r>
              <a:rPr lang="en-CA" dirty="0">
                <a:hlinkClick r:id="rId2"/>
              </a:rPr>
              <a:t>https://inkscape-manuals.readthedocs.io/en/latest/index.html</a:t>
            </a:r>
            <a:r>
              <a:rPr lang="en-CA" dirty="0"/>
              <a:t> </a:t>
            </a:r>
          </a:p>
          <a:p>
            <a:pPr marL="285750" indent="-285750" fontAlgn="t">
              <a:buFontTx/>
              <a:buChar char="-"/>
            </a:pPr>
            <a:r>
              <a:rPr lang="en-CA" dirty="0"/>
              <a:t>Zabala A. </a:t>
            </a:r>
            <a:r>
              <a:rPr lang="en-CA" i="1" dirty="0"/>
              <a:t>Designing Effective Scientific Figures: Practical Inkscape Tutorial</a:t>
            </a:r>
            <a:r>
              <a:rPr lang="en-CA" dirty="0"/>
              <a:t>. Bioinformatics Core Shared Training. </a:t>
            </a:r>
            <a:r>
              <a:rPr lang="en-CA" dirty="0">
                <a:hlinkClick r:id="rId3"/>
              </a:rPr>
              <a:t>https://bioinformatics-core-shared-training.github.io/effective-figure-design/DesigningEffectiveScientificFigures_Practical_INKSCAPE_Zabala_v00.pdf</a:t>
            </a:r>
            <a:endParaRPr lang="en-CA" dirty="0"/>
          </a:p>
          <a:p>
            <a:pPr marL="285750" indent="-285750" fontAlgn="t">
              <a:buFontTx/>
              <a:buChar char="-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909285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1252</Words>
  <Application>Microsoft Office PowerPoint</Application>
  <PresentationFormat>On-screen Show (4:3)</PresentationFormat>
  <Paragraphs>217</Paragraphs>
  <Slides>38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Helvetica Light</vt:lpstr>
      <vt:lpstr>Univers Light</vt:lpstr>
      <vt:lpstr>Calibri</vt:lpstr>
      <vt:lpstr>Arial</vt:lpstr>
      <vt:lpstr>Open Sans Light</vt:lpstr>
      <vt:lpstr>Kigelia</vt:lpstr>
      <vt:lpstr>Helvetica</vt:lpstr>
      <vt:lpstr>Thème Office</vt:lpstr>
      <vt:lpstr>Building figures with Inkscape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Rachade Hmamouchi</dc:creator>
  <cp:lastModifiedBy>arielmadr@gmail.com</cp:lastModifiedBy>
  <cp:revision>41</cp:revision>
  <dcterms:created xsi:type="dcterms:W3CDTF">2019-07-29T14:54:16Z</dcterms:created>
  <dcterms:modified xsi:type="dcterms:W3CDTF">2026-10-27T21:39:44Z</dcterms:modified>
</cp:coreProperties>
</file>